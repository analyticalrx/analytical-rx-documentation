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11dd581bd04a5d" /><Relationship Type="http://schemas.openxmlformats.org/officeDocument/2006/relationships/extended-properties" Target="/docProps/app.xml" Id="Rf36a026fe9584999" /><Relationship Type="http://schemas.openxmlformats.org/officeDocument/2006/relationships/officeDocument" Target="/ppt/presentation.xml" Id="R210a4558cb254b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92e10ed33e4b10"/>
  </p:sldMasterIdLst>
  <p:notesMasterIdLst>
    <p:notesMasterId xmlns:r="http://schemas.openxmlformats.org/officeDocument/2006/relationships" r:id="R2e99168d161d4a9e"/>
  </p:notesMasterIdLst>
  <p:sldIdLst>
    <p:sldId xmlns:r="http://schemas.openxmlformats.org/officeDocument/2006/relationships" id="256" r:id="R6be9de763e6e40fb"/>
    <p:sldId xmlns:r="http://schemas.openxmlformats.org/officeDocument/2006/relationships" id="257" r:id="Rf848855014904d5c"/>
    <p:sldId xmlns:r="http://schemas.openxmlformats.org/officeDocument/2006/relationships" id="258" r:id="R87cf667c772c4380"/>
    <p:sldId xmlns:r="http://schemas.openxmlformats.org/officeDocument/2006/relationships" id="259" r:id="Rfa02a1ef61884326"/>
    <p:sldId xmlns:r="http://schemas.openxmlformats.org/officeDocument/2006/relationships" id="260" r:id="R6dd906117b0a4067"/>
    <p:sldId xmlns:r="http://schemas.openxmlformats.org/officeDocument/2006/relationships" id="261" r:id="Rfd162431c5d543ca"/>
    <p:sldId xmlns:r="http://schemas.openxmlformats.org/officeDocument/2006/relationships" id="262" r:id="R3c3c05e046664ee1"/>
    <p:sldId xmlns:r="http://schemas.openxmlformats.org/officeDocument/2006/relationships" id="263" r:id="R33503602307c45b3"/>
    <p:sldId xmlns:r="http://schemas.openxmlformats.org/officeDocument/2006/relationships" id="264" r:id="R478ab77f824242e0"/>
    <p:sldId xmlns:r="http://schemas.openxmlformats.org/officeDocument/2006/relationships" id="265" r:id="R9296dcb5108844c3"/>
    <p:sldId xmlns:r="http://schemas.openxmlformats.org/officeDocument/2006/relationships" id="266" r:id="Rf9d5ffbff170469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529ba86ed74f02" /><Relationship Type="http://schemas.openxmlformats.org/officeDocument/2006/relationships/slideMaster" Target="/ppt/slideMasters/slideMaster1.xml" Id="R4292e10ed33e4b10" /><Relationship Type="http://schemas.openxmlformats.org/officeDocument/2006/relationships/notesMaster" Target="/ppt/notesMasters/notesMaster1.xml" Id="R2e99168d161d4a9e" /><Relationship Type="http://schemas.openxmlformats.org/officeDocument/2006/relationships/presProps" Target="/ppt/presProps.xml" Id="R26c8afdc38004ffc" /><Relationship Type="http://schemas.openxmlformats.org/officeDocument/2006/relationships/viewProps" Target="/ppt/viewProps.xml" Id="R4687729eac33494f" /><Relationship Type="http://schemas.openxmlformats.org/officeDocument/2006/relationships/tableStyles" Target="/ppt/tableStyles.xml" Id="R5d3382b255f34515" /><Relationship Type="http://schemas.openxmlformats.org/officeDocument/2006/relationships/slide" Target="/ppt/slides/slide1.xml" Id="R6be9de763e6e40fb" /><Relationship Type="http://schemas.openxmlformats.org/officeDocument/2006/relationships/slide" Target="/ppt/slides/slide2.xml" Id="Rf848855014904d5c" /><Relationship Type="http://schemas.openxmlformats.org/officeDocument/2006/relationships/slide" Target="/ppt/slides/slide3.xml" Id="R87cf667c772c4380" /><Relationship Type="http://schemas.openxmlformats.org/officeDocument/2006/relationships/slide" Target="/ppt/slides/slide4.xml" Id="Rfa02a1ef61884326" /><Relationship Type="http://schemas.openxmlformats.org/officeDocument/2006/relationships/slide" Target="/ppt/slides/slide5.xml" Id="R6dd906117b0a4067" /><Relationship Type="http://schemas.openxmlformats.org/officeDocument/2006/relationships/slide" Target="/ppt/slides/slide6.xml" Id="Rfd162431c5d543ca" /><Relationship Type="http://schemas.openxmlformats.org/officeDocument/2006/relationships/slide" Target="/ppt/slides/slide7.xml" Id="R3c3c05e046664ee1" /><Relationship Type="http://schemas.openxmlformats.org/officeDocument/2006/relationships/slide" Target="/ppt/slides/slide8.xml" Id="R33503602307c45b3" /><Relationship Type="http://schemas.openxmlformats.org/officeDocument/2006/relationships/slide" Target="/ppt/slides/slide9.xml" Id="R478ab77f824242e0" /><Relationship Type="http://schemas.openxmlformats.org/officeDocument/2006/relationships/slide" Target="/ppt/slides/slide10.xml" Id="R9296dcb5108844c3" /><Relationship Type="http://schemas.openxmlformats.org/officeDocument/2006/relationships/slide" Target="/ppt/slides/slide11.xml" Id="Rf9d5ffbff17046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47e214c1b64b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cb0c61eb1f446a" /><Relationship Type="http://schemas.openxmlformats.org/officeDocument/2006/relationships/notesMaster" Target="/ppt/notesMasters/notesMaster1.xml" Id="Rc3db961da3264e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177efb913e4971" /><Relationship Type="http://schemas.openxmlformats.org/officeDocument/2006/relationships/notesMaster" Target="/ppt/notesMasters/notesMaster1.xml" Id="Rd41d1fd88a5a45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ab2b91227a4f03" /><Relationship Type="http://schemas.openxmlformats.org/officeDocument/2006/relationships/notesMaster" Target="/ppt/notesMasters/notesMaster1.xml" Id="R91265d37cbaf47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105320323a406e" /><Relationship Type="http://schemas.openxmlformats.org/officeDocument/2006/relationships/notesMaster" Target="/ppt/notesMasters/notesMaster1.xml" Id="R508f39715fdb45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ebfec8e5984c6e" /><Relationship Type="http://schemas.openxmlformats.org/officeDocument/2006/relationships/notesMaster" Target="/ppt/notesMasters/notesMaster1.xml" Id="R177657e9250a47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277a503c0c4a41" /><Relationship Type="http://schemas.openxmlformats.org/officeDocument/2006/relationships/notesMaster" Target="/ppt/notesMasters/notesMaster1.xml" Id="R45781737c88b43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d0c7d2c43d4c25" /><Relationship Type="http://schemas.openxmlformats.org/officeDocument/2006/relationships/notesMaster" Target="/ppt/notesMasters/notesMaster1.xml" Id="Rcb2b0f4435fe4c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5486257501455d" /><Relationship Type="http://schemas.openxmlformats.org/officeDocument/2006/relationships/notesMaster" Target="/ppt/notesMasters/notesMaster1.xml" Id="Re988b235c5ea4a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453e960e884e22" /><Relationship Type="http://schemas.openxmlformats.org/officeDocument/2006/relationships/notesMaster" Target="/ppt/notesMasters/notesMaster1.xml" Id="R26cfc7ba046c4b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2ed675fa534788" /><Relationship Type="http://schemas.openxmlformats.org/officeDocument/2006/relationships/notesMaster" Target="/ppt/notesMasters/notesMaster1.xml" Id="R40299f95f73b47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4e0567f26f4ded" /><Relationship Type="http://schemas.openxmlformats.org/officeDocument/2006/relationships/notesMaster" Target="/ppt/notesMasters/notesMaster1.xml" Id="R2478b8011fe74e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3bade1f2c45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50a905a2a24ee9" /><Relationship Type="http://schemas.openxmlformats.org/officeDocument/2006/relationships/slideLayout" Target="/ppt/slideLayouts/slideLayout1.xml" Id="Ra6f24684a4f045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f24684a4f045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27a28e8e34ee1" /><Relationship Type="http://schemas.openxmlformats.org/officeDocument/2006/relationships/notesSlide" Target="/ppt/notesSlides/notesSlide1.xml" Id="R45bee94720694c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06b9be646466f" /><Relationship Type="http://schemas.openxmlformats.org/officeDocument/2006/relationships/notesSlide" Target="/ppt/notesSlides/notesSlide2.xml" Id="R28a45441f45a4b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3ff7d9a6e47dd" /><Relationship Type="http://schemas.openxmlformats.org/officeDocument/2006/relationships/notesSlide" Target="/ppt/notesSlides/notesSlide3.xml" Id="Rda9a76eddbb849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a11173e994b07" /><Relationship Type="http://schemas.openxmlformats.org/officeDocument/2006/relationships/notesSlide" Target="/ppt/notesSlides/notesSlide4.xml" Id="R2ff4ff5751c449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912ec6b6c4969" /><Relationship Type="http://schemas.openxmlformats.org/officeDocument/2006/relationships/notesSlide" Target="/ppt/notesSlides/notesSlide5.xml" Id="R05baa279dd3f42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7f9c41bb74aed" /><Relationship Type="http://schemas.openxmlformats.org/officeDocument/2006/relationships/notesSlide" Target="/ppt/notesSlides/notesSlide6.xml" Id="Rf0a6dc62a8dd48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34f67704d4ec7" /><Relationship Type="http://schemas.openxmlformats.org/officeDocument/2006/relationships/notesSlide" Target="/ppt/notesSlides/notesSlide7.xml" Id="R778446a30cd549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78025e1974d66" /><Relationship Type="http://schemas.openxmlformats.org/officeDocument/2006/relationships/notesSlide" Target="/ppt/notesSlides/notesSlide8.xml" Id="Rffd37cab996441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7ad9b99334d8c" /><Relationship Type="http://schemas.openxmlformats.org/officeDocument/2006/relationships/notesSlide" Target="/ppt/notesSlides/notesSlide9.xml" Id="Re455ec4a12dc4c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bfc3a0cf44e82" /><Relationship Type="http://schemas.openxmlformats.org/officeDocument/2006/relationships/notesSlide" Target="/ppt/notesSlides/notesSlide10.xml" Id="Re62eb95c09e74d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38b2a8b7a4899" /><Relationship Type="http://schemas.openxmlformats.org/officeDocument/2006/relationships/notesSlide" Target="/ppt/notesSlides/notesSlide11.xml" Id="Rc253ba0d031944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0F04E58-B845-4614-A36D-EE0FFB85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AnalyticalRx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08BF7F0-8852-4CBC-9503-0C133F95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7524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Airtable intent is becoming the product blueprint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06652C9-1BDA-4474-A99C-CB070D96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Mapping the current Airtable setup to AnalyticalRx product components, and showing where the custom platform adds stronger data, workflow, and analytics capabilities.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C061BD-F382-4180-81ED-F6D6D95E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19150"/>
            <a:ext cx="32194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45CF671-010C-4846-99DC-AC156D4B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525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Airtable reference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BAB3DBD-F58C-4E73-ACEB-3D70E9E4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476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Tables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Interfaces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Automations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Dashboards</a:t>
            </a:r>
          </a:p>
        </p:txBody>
      </p:sp>
      <p:cxnSp>
        <p:nvCxnSpPr>
          <p:cNvPr id="23" name="Straight Arrow Connector 15"/>
          <p:cNvCxnSpPr/>
          <p:nvPr/>
        </p:nvCxnSpPr>
        <p:spPr>
          <a:xfrm xmlns:a="http://schemas.openxmlformats.org/drawingml/2006/main">
            <a:off x="8572500" y="4400550"/>
            <a:ext cx="2266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B5BCF56-61BA-47C2-BE51-37DD9DD4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AnalyticalRx product direction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4616E99-9CE8-41EA-9E1F-73F8AF70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9862026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0ECA0F-A7E6-477A-BD7C-CC280D39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AIRTABLE READOUT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86305E5-D095-413B-9D76-2F8649AC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Airtable shows product intent, not a database to copy</a:t>
            </a:r>
          </a:p>
        </p:txBody>
      </p:sp>
      <p:cxnSp>
        <p:nvCxnSpPr>
          <p:cNvPr id="21" name="Straight Arrow Connector 17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4D1015-86BB-425B-8FCE-921D4611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C92E323-80B3-482E-9ECA-35D03930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742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6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The </a:t>
            </a: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current</a:t>
            </a: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Airtable</a:t>
            </a: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 setup is useful because it reveals workflows, roles, and business questions. It should guide product design, but the custom platform should use a stronger model for security, integrations, and reporting.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F870612-46A9-4E08-8384-9EECCA81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342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B9240F3-25AF-408F-B3BA-3C54F7F1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C06B3F0-16B8-44E1-A71E-48F95212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Airtable tables covering stores, staff, finance, tasks, compliance, SOPs, documents, vendors, and doctor outreach.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55EC6D2-B7C4-4423-90FC-7A454116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342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529720D-878C-4808-B3EA-3975610E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263F2D2-4C18-44BC-B013-FF98C0AA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8145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Dashboard pages across owner, bookkeeper, technician, daily sales, and KPI views.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A02A91F-05C0-4675-9860-6DAB3E61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71800"/>
            <a:ext cx="342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EAF3BB4-2C28-49A9-BD8E-66832836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7D24BE-FBF5-41C6-8489-87051A17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8145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Observed automations. They appear OFF, so we treat them as workflow intent to rebuild carefully.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805F046-4F4E-4AE1-98B7-5877F7F8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Source: Airtable metadata and screenshots. No record values were used.</a:t>
            </a:r>
          </a:p>
        </p:txBody>
      </p:sp>
    </p:spTree>
    <p:extLst>
      <p:ext uri="{BB962C8B-B14F-4D97-AF65-F5344CB8AC3E}">
        <p14:creationId xmlns:p14="http://schemas.microsoft.com/office/powerpoint/2010/main" val="1139863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371B6D-0C67-4011-8638-2F65CB7E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PRODUCT MAPPING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B18A7C-D47D-42EB-8BED-A8ECF9DF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Airtable setup maps cleanly into six product areas</a:t>
            </a:r>
          </a:p>
        </p:txBody>
      </p:sp>
      <p:cxnSp>
        <p:nvCxnSpPr>
          <p:cNvPr id="29" name="Straight Arrow Connector 25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F31960F-2A35-485E-B3C9-BD8F957C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782F992-78EE-448B-B0D9-6FDCCC62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448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78E57EC-5DE3-4818-A962-D21A58EC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Store operations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BB5D1D3-0441-4D3A-9C51-E779873B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Pharmacies, People, Tasks, Onboarding Steps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339013A-8760-4E2D-8208-5B283CB0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448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EFA169E-83C7-4078-8F76-6B41806A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Compliance control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33AB6E9-7533-49B3-B2A5-387A8837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1935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Compliance Items, Logs, Employee Licenses, SOPs, Documents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7A6F39B-A285-4940-B107-DFABFDB8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448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A4811FC-726F-44FA-AF26-D2AD884E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02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Financial visibility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B02CB93-0A62-4B0B-ADFB-8E800AD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Financial Periods, AR Aging, KPI Scorecard, Daily Sales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8E8ABEA-6F9C-4979-944F-F9579131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3448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9BC8C7A-EB4B-4BF3-A63E-BA268EEC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Rx performance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4A7901D-D541-4BE0-A9D8-68BDB17B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Rx Metrics, Daily Sales, payer and prescription metrics from PrimeRx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1E8527C-31C4-46C5-9093-CE81F4DC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19500"/>
            <a:ext cx="3448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8E43567-5794-4996-97CD-1548BFD5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100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Growth workflows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8AE2D6D-0C10-4304-B112-3AC31D4C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Doctor Offices, Doctor Visits, referral and follow-up tracking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E9F3E32-C33A-423D-A595-0B78028C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19500"/>
            <a:ext cx="3448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7C8A7A4-75F8-4745-8A6E-D408B62A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Vendor management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B1829AD-2860-4DE2-8D11-FE9AF2B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2910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Vendors, contracts, renewals, spend, and performance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8036F4B-FC21-4B24-9D9A-26FB9F63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4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This gives us a practical product map: keep the business modules, rebuild the implementation around tenant-aware services and reliable source data.</a:t>
            </a:r>
          </a:p>
        </p:txBody>
      </p:sp>
    </p:spTree>
    <p:extLst>
      <p:ext uri="{BB962C8B-B14F-4D97-AF65-F5344CB8AC3E}">
        <p14:creationId xmlns:p14="http://schemas.microsoft.com/office/powerpoint/2010/main" val="5338469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48F415-8AD4-4534-BAD2-2CC9F9E4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COMPONENT MAPPING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B06BE73-F535-41AB-A530-E9D19EA0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Airtable modules translate into AnalyticalRx components</a:t>
            </a:r>
          </a:p>
        </p:txBody>
      </p:sp>
      <p:cxnSp>
        <p:nvCxnSpPr>
          <p:cNvPr id="95" name="Straight Arrow Connector 48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6FDB110-3379-4FDC-BD6D-F89882AC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E93891A-9AF9-43DC-A086-59E41CFB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0668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3C90BBE-A46E-4D10-86FC-8CB82569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Airtable area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B686F3E-8B43-494D-A0D9-4B8CA2BD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93081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 component</a:t>
            </a:r>
          </a:p>
        </p:txBody>
      </p:sp>
      <p:cxnSp>
        <p:nvCxnSpPr>
          <p:cNvPr id="100" name="Straight Arrow Connector 53"/>
          <p:cNvCxnSpPr/>
          <p:nvPr/>
        </p:nvCxnSpPr>
        <p:spPr>
          <a:xfrm xmlns:a="http://schemas.openxmlformats.org/drawingml/2006/main" rot="5400000">
            <a:off x="2971800" y="16764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FFFFFF"/>
            </a:solidFill>
            <a:prstDash val="solid"/>
          </a:ln>
        </p:spPr>
      </p:cxn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60A2489-ED0A-4AD7-8C02-3E470BC0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84829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How we improve it</a:t>
            </a:r>
          </a:p>
        </p:txBody>
      </p:sp>
      <p:cxnSp>
        <p:nvCxnSpPr>
          <p:cNvPr id="102" name="Straight Arrow Connector 55"/>
          <p:cNvCxnSpPr/>
          <p:nvPr/>
        </p:nvCxnSpPr>
        <p:spPr>
          <a:xfrm xmlns:a="http://schemas.openxmlformats.org/drawingml/2006/main" rot="5400000">
            <a:off x="6115050" y="16764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FFFFFF"/>
            </a:solidFill>
            <a:prstDash val="solid"/>
          </a:ln>
        </p:spPr>
      </p:cxn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58C0314-5E2A-4AC6-81B5-25F83F7A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0275"/>
            <a:ext cx="10668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C7F031E-BF9B-48C8-9514-D883B6BA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764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Pharmacies + People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0724637-9570-477D-9DE4-F3B45268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10588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Tenant, store, and user admin</a:t>
            </a:r>
          </a:p>
        </p:txBody>
      </p:sp>
      <p:cxnSp>
        <p:nvCxnSpPr>
          <p:cNvPr id="106" name="Straight Arrow Connector 59"/>
          <p:cNvCxnSpPr/>
          <p:nvPr/>
        </p:nvCxnSpPr>
        <p:spPr>
          <a:xfrm xmlns:a="http://schemas.openxmlformats.org/drawingml/2006/main" rot="5400000">
            <a:off x="2971800" y="2200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293ADBD-B8FF-4786-8EC3-23E6997D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0726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Role-based access, store assignments, audit trail, stronger data ownership.</a:t>
            </a:r>
          </a:p>
        </p:txBody>
      </p:sp>
      <p:cxnSp>
        <p:nvCxnSpPr>
          <p:cNvPr id="108" name="Straight Arrow Connector 61"/>
          <p:cNvCxnSpPr/>
          <p:nvPr/>
        </p:nvCxnSpPr>
        <p:spPr>
          <a:xfrm xmlns:a="http://schemas.openxmlformats.org/drawingml/2006/main" rot="5400000">
            <a:off x="6115050" y="2200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4BB4709-E10C-4B61-8A42-841AE768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0668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80E661-F11C-4DB7-B76F-4F88E84C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03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Daily Sales + Rx Metrics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91DA625-3058-48C0-A7FA-05E56AFC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644" y="2809876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Operations and Rx dashboard</a:t>
            </a:r>
          </a:p>
        </p:txBody>
      </p:sp>
      <p:cxnSp>
        <p:nvCxnSpPr>
          <p:cNvPr id="112" name="Straight Arrow Connector 65"/>
          <p:cNvCxnSpPr/>
          <p:nvPr/>
        </p:nvCxnSpPr>
        <p:spPr>
          <a:xfrm xmlns:a="http://schemas.openxmlformats.org/drawingml/2006/main" rot="5400000">
            <a:off x="2971800" y="27241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59CA0FC-E477-43B7-85B1-41F20A03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237" y="2824163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PrimeRx</a:t>
            </a: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/API/SFTP-backed metrics instead of manual dashboard inputs.</a:t>
            </a:r>
          </a:p>
        </p:txBody>
      </p:sp>
      <p:cxnSp>
        <p:nvCxnSpPr>
          <p:cNvPr id="114" name="Straight Arrow Connector 67"/>
          <p:cNvCxnSpPr/>
          <p:nvPr/>
        </p:nvCxnSpPr>
        <p:spPr>
          <a:xfrm xmlns:a="http://schemas.openxmlformats.org/drawingml/2006/main" rot="5400000">
            <a:off x="6115050" y="27241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0FF6338-D74F-40D1-A221-B1B4DAD6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48025"/>
            <a:ext cx="10668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FC2F818-BF15-4CC7-A6EF-CE108D03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242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Financial + KPI tables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C309D45-7752-45A1-94D7-77FBC428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7" y="3343274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Finance and KPI workspace</a:t>
            </a:r>
          </a:p>
        </p:txBody>
      </p:sp>
      <p:cxnSp>
        <p:nvCxnSpPr>
          <p:cNvPr id="118" name="Straight Arrow Connector 71"/>
          <p:cNvCxnSpPr/>
          <p:nvPr/>
        </p:nvCxnSpPr>
        <p:spPr>
          <a:xfrm xmlns:a="http://schemas.openxmlformats.org/drawingml/2006/main" rot="5400000">
            <a:off x="2971800" y="32480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646B8B1-61C8-4B46-A14B-4C4CB689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237" y="333585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Standard formulas, variance logic, period close status, drilldowns.</a:t>
            </a:r>
          </a:p>
        </p:txBody>
      </p:sp>
      <p:cxnSp>
        <p:nvCxnSpPr>
          <p:cNvPr id="120" name="Straight Arrow Connector 73"/>
          <p:cNvCxnSpPr/>
          <p:nvPr/>
        </p:nvCxnSpPr>
        <p:spPr>
          <a:xfrm xmlns:a="http://schemas.openxmlformats.org/drawingml/2006/main" rot="5400000">
            <a:off x="6115050" y="32480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0C479E4-4E52-45B2-BF6B-3BEE02E8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10668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3FE0421-32B1-42BC-8F4C-344FED40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Tasks + Templates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22E01B6-28E8-4519-8671-1D7BAB0C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766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Work management</a:t>
            </a:r>
          </a:p>
        </p:txBody>
      </p:sp>
      <p:cxnSp>
        <p:nvCxnSpPr>
          <p:cNvPr id="124" name="Straight Arrow Connector 77"/>
          <p:cNvCxnSpPr/>
          <p:nvPr/>
        </p:nvCxnSpPr>
        <p:spPr>
          <a:xfrm xmlns:a="http://schemas.openxmlformats.org/drawingml/2006/main" rot="5400000">
            <a:off x="2971800" y="37719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573D02C1-CC36-4440-A82E-5275547E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237" y="3857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Recurring task engine, due/overdue reminders, duplicate prevention.</a:t>
            </a:r>
          </a:p>
        </p:txBody>
      </p:sp>
      <p:cxnSp>
        <p:nvCxnSpPr>
          <p:cNvPr id="126" name="Straight Arrow Connector 79"/>
          <p:cNvCxnSpPr/>
          <p:nvPr/>
        </p:nvCxnSpPr>
        <p:spPr>
          <a:xfrm xmlns:a="http://schemas.openxmlformats.org/drawingml/2006/main" rot="5400000">
            <a:off x="6115050" y="37719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745A6697-C377-492F-A260-B3DFFC47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5775"/>
            <a:ext cx="10668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DCB48607-5648-4D30-B750-403A9252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719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Compliance + Docs + SOPs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65E61BF6-B600-4DA6-B47C-6BA03F00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7" y="43719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Compliance and document control</a:t>
            </a:r>
          </a:p>
        </p:txBody>
      </p:sp>
      <p:cxnSp>
        <p:nvCxnSpPr>
          <p:cNvPr id="130" name="Straight Arrow Connector 83"/>
          <p:cNvCxnSpPr/>
          <p:nvPr/>
        </p:nvCxnSpPr>
        <p:spPr>
          <a:xfrm xmlns:a="http://schemas.openxmlformats.org/drawingml/2006/main" rot="5400000">
            <a:off x="2971800" y="42957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43D60CE8-1094-4C54-B901-F387A290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237" y="4381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Secure files, renewal reminders, acknowledgments, permission-aware links.</a:t>
            </a:r>
          </a:p>
        </p:txBody>
      </p:sp>
      <p:cxnSp>
        <p:nvCxnSpPr>
          <p:cNvPr id="132" name="Straight Arrow Connector 85"/>
          <p:cNvCxnSpPr/>
          <p:nvPr/>
        </p:nvCxnSpPr>
        <p:spPr>
          <a:xfrm xmlns:a="http://schemas.openxmlformats.org/drawingml/2006/main" rot="5400000">
            <a:off x="6115050" y="42957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B33BE601-05EB-47F9-BE46-E3F8EFF8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29175"/>
            <a:ext cx="10668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C968A2E3-C887-46CD-9D54-F30702D0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958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Doctor Offices + Visits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B1EA1F50-8E26-4A71-954C-337CB151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7" y="4908033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Growth and referral CRM</a:t>
            </a:r>
          </a:p>
        </p:txBody>
      </p:sp>
      <p:cxnSp>
        <p:nvCxnSpPr>
          <p:cNvPr id="136" name="Straight Arrow Connector 89"/>
          <p:cNvCxnSpPr/>
          <p:nvPr/>
        </p:nvCxnSpPr>
        <p:spPr>
          <a:xfrm xmlns:a="http://schemas.openxmlformats.org/drawingml/2006/main" flipH="1">
            <a:off x="3233736" y="4557712"/>
            <a:ext cx="2" cy="804865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2208B342-59A2-4196-B176-3218A406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237" y="49149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Follow-ups, lapse risk, referral pipeline, store-level accountability.</a:t>
            </a:r>
          </a:p>
        </p:txBody>
      </p:sp>
      <p:cxnSp>
        <p:nvCxnSpPr>
          <p:cNvPr id="138" name="Straight Arrow Connector 91"/>
          <p:cNvCxnSpPr/>
          <p:nvPr/>
        </p:nvCxnSpPr>
        <p:spPr>
          <a:xfrm xmlns:a="http://schemas.openxmlformats.org/drawingml/2006/main">
            <a:off x="6376988" y="4557712"/>
            <a:ext cx="23812" cy="804865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2409778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E41A95-9189-4D8C-BAEC-86F09B14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INTERFACE ALIGNMENT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FF07EC9-C1F3-4F12-A43E-D7B79C19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Role dashboards remain, but the data foundation changes</a:t>
            </a:r>
          </a:p>
        </p:txBody>
      </p:sp>
      <p:cxnSp>
        <p:nvCxnSpPr>
          <p:cNvPr id="84" name="Straight Arrow Connector 43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A0D44A1-E852-4EAB-85FA-7D7DCE0A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E685AC5-33B0-4D80-AD98-06D4B0E0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52C254-509C-4DEC-BADD-115A7172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8117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Airtable dashboard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69BF692-BD39-4C8E-859D-FCEC301C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732" y="17811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AnalyticalRx</a:t>
            </a: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surface</a:t>
            </a:r>
          </a:p>
        </p:txBody>
      </p:sp>
      <p:cxnSp>
        <p:nvCxnSpPr>
          <p:cNvPr id="89" name="Straight Arrow Connector 48"/>
          <p:cNvCxnSpPr/>
          <p:nvPr/>
        </p:nvCxnSpPr>
        <p:spPr>
          <a:xfrm xmlns:a="http://schemas.openxmlformats.org/drawingml/2006/main" rot="5400000">
            <a:off x="2733675" y="16954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FFFFFF"/>
            </a:solidFill>
            <a:prstDash val="solid"/>
          </a:ln>
        </p:spPr>
      </p:cxn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5F61952-9F20-4CC3-84C2-881349C2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043" y="1781175"/>
            <a:ext cx="528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Main content to preserve</a:t>
            </a:r>
          </a:p>
        </p:txBody>
      </p:sp>
      <p:cxnSp>
        <p:nvCxnSpPr>
          <p:cNvPr id="91" name="Straight Arrow Connector 50"/>
          <p:cNvCxnSpPr/>
          <p:nvPr/>
        </p:nvCxnSpPr>
        <p:spPr>
          <a:xfrm xmlns:a="http://schemas.openxmlformats.org/drawingml/2006/main" rot="5400000">
            <a:off x="5591175" y="16954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FFFFFF"/>
            </a:solidFill>
            <a:prstDash val="solid"/>
          </a:ln>
        </p:spPr>
      </p:cxn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4F1FD6D-7B72-4AE6-9BE3-07984CAE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582F35C-3363-491D-A890-6BE1C407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Owner Dashboard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8FAC478-871B-486E-B154-C973B3C1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963" y="2428875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Owner command center</a:t>
            </a:r>
          </a:p>
        </p:txBody>
      </p:sp>
      <p:cxnSp>
        <p:nvCxnSpPr>
          <p:cNvPr id="95" name="Straight Arrow Connector 54"/>
          <p:cNvCxnSpPr/>
          <p:nvPr/>
        </p:nvCxnSpPr>
        <p:spPr>
          <a:xfrm xmlns:a="http://schemas.openxmlformats.org/drawingml/2006/main" rot="5400000">
            <a:off x="2733675" y="23241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C87F997-DFFE-434C-BDA7-C657AE26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44159"/>
            <a:ext cx="5286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Revenue, Rx volume, KPI status, tasks, financial risk, doctor relationships.</a:t>
            </a:r>
          </a:p>
        </p:txBody>
      </p:sp>
      <p:cxnSp>
        <p:nvCxnSpPr>
          <p:cNvPr id="97" name="Straight Arrow Connector 56"/>
          <p:cNvCxnSpPr/>
          <p:nvPr/>
        </p:nvCxnSpPr>
        <p:spPr>
          <a:xfrm xmlns:a="http://schemas.openxmlformats.org/drawingml/2006/main" rot="5400000">
            <a:off x="5591175" y="23241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825EB1F-D5C0-499F-A71C-95293C2E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C20BED9-14D3-4D14-BF4F-49DDBA2B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Bookkeeper Financials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41CB4DE-9FEF-4128-A989-430BC92C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963" y="3057525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Finance dashboard</a:t>
            </a:r>
          </a:p>
        </p:txBody>
      </p:sp>
      <p:cxnSp>
        <p:nvCxnSpPr>
          <p:cNvPr id="101" name="Straight Arrow Connector 60"/>
          <p:cNvCxnSpPr/>
          <p:nvPr/>
        </p:nvCxnSpPr>
        <p:spPr>
          <a:xfrm xmlns:a="http://schemas.openxmlformats.org/drawingml/2006/main" rot="5400000">
            <a:off x="2733675" y="29527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B43797C-A1E4-440A-A1CB-E07525E9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51434"/>
            <a:ext cx="5286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Revenue, gross profit, EBITDA, margin, period status, AR and KPI trends.</a:t>
            </a:r>
          </a:p>
        </p:txBody>
      </p:sp>
      <p:cxnSp>
        <p:nvCxnSpPr>
          <p:cNvPr id="103" name="Straight Arrow Connector 62"/>
          <p:cNvCxnSpPr/>
          <p:nvPr/>
        </p:nvCxnSpPr>
        <p:spPr>
          <a:xfrm xmlns:a="http://schemas.openxmlformats.org/drawingml/2006/main" rot="5400000">
            <a:off x="5591175" y="29527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3DD4CD5-409E-4EB3-8532-08F24685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C81F08D-044E-4941-A2E4-35BF1FA7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5760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Technician Dashboard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BCEE09A-1ACB-426B-837E-AA4A5E82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86175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Store workbench</a:t>
            </a:r>
          </a:p>
        </p:txBody>
      </p:sp>
      <p:cxnSp>
        <p:nvCxnSpPr>
          <p:cNvPr id="107" name="Straight Arrow Connector 66"/>
          <p:cNvCxnSpPr/>
          <p:nvPr/>
        </p:nvCxnSpPr>
        <p:spPr>
          <a:xfrm xmlns:a="http://schemas.openxmlformats.org/drawingml/2006/main" rot="5400000">
            <a:off x="2733675" y="35814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194DE974-27BA-4460-84D0-60A146B7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9973"/>
            <a:ext cx="5286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Assigned tasks, high-priority work, overdue work, compliance logs, proof of completion.</a:t>
            </a:r>
          </a:p>
        </p:txBody>
      </p:sp>
      <p:cxnSp>
        <p:nvCxnSpPr>
          <p:cNvPr id="109" name="Straight Arrow Connector 68"/>
          <p:cNvCxnSpPr/>
          <p:nvPr/>
        </p:nvCxnSpPr>
        <p:spPr>
          <a:xfrm xmlns:a="http://schemas.openxmlformats.org/drawingml/2006/main" rot="5400000">
            <a:off x="5591175" y="35814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DFADD19-0254-4385-916C-93042968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B263692-C0DF-4821-A4A3-1B8ADCBB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Daily Sales Dashboard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7084A61-52A2-454F-BD6D-C1F41461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05522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Daily performance view</a:t>
            </a:r>
          </a:p>
        </p:txBody>
      </p:sp>
      <p:cxnSp>
        <p:nvCxnSpPr>
          <p:cNvPr id="113" name="Straight Arrow Connector 72"/>
          <p:cNvCxnSpPr/>
          <p:nvPr/>
        </p:nvCxnSpPr>
        <p:spPr>
          <a:xfrm xmlns:a="http://schemas.openxmlformats.org/drawingml/2006/main" rot="5400000">
            <a:off x="2733675" y="42100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DF2D89E5-013E-42DF-9A9F-C3FE2069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08622"/>
            <a:ext cx="5286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Sales, prescription volume, vaccines, OTC/front-end sales, trends and leaderboard.</a:t>
            </a:r>
          </a:p>
        </p:txBody>
      </p:sp>
      <p:cxnSp>
        <p:nvCxnSpPr>
          <p:cNvPr id="115" name="Straight Arrow Connector 74"/>
          <p:cNvCxnSpPr/>
          <p:nvPr/>
        </p:nvCxnSpPr>
        <p:spPr>
          <a:xfrm xmlns:a="http://schemas.openxmlformats.org/drawingml/2006/main" rot="5400000">
            <a:off x="5591175" y="42100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2BA8B08-2565-47B9-A488-0399A9B9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BF8071D-CD3E-461A-94D1-C9A6ED5C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1490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KPI Dashboard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3A5AD625-83C3-41E8-84FB-2A59759D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25976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KPI scorecard</a:t>
            </a:r>
          </a:p>
        </p:txBody>
      </p:sp>
      <p:cxnSp>
        <p:nvCxnSpPr>
          <p:cNvPr id="119" name="Straight Arrow Connector 78"/>
          <p:cNvCxnSpPr/>
          <p:nvPr/>
        </p:nvCxnSpPr>
        <p:spPr>
          <a:xfrm xmlns:a="http://schemas.openxmlformats.org/drawingml/2006/main" rot="5400000">
            <a:off x="2733675" y="48387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C3B3D572-F115-4ACF-A0CE-48FB6C90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2" y="4925976"/>
            <a:ext cx="5286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Target vs actual, variance, status, store comparison, and drilldown to source facts.</a:t>
            </a:r>
          </a:p>
        </p:txBody>
      </p:sp>
      <p:cxnSp>
        <p:nvCxnSpPr>
          <p:cNvPr id="121" name="Straight Arrow Connector 80"/>
          <p:cNvCxnSpPr/>
          <p:nvPr/>
        </p:nvCxnSpPr>
        <p:spPr>
          <a:xfrm xmlns:a="http://schemas.openxmlformats.org/drawingml/2006/main">
            <a:off x="5905500" y="4524375"/>
            <a:ext cx="0" cy="942975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3DDA4937-1169-4EB1-A6EC-E89B32EF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Additional product rule: dashboards should be filtered by tenant, store, and role from day one.</a:t>
            </a:r>
          </a:p>
        </p:txBody>
      </p:sp>
    </p:spTree>
    <p:extLst>
      <p:ext uri="{BB962C8B-B14F-4D97-AF65-F5344CB8AC3E}">
        <p14:creationId xmlns:p14="http://schemas.microsoft.com/office/powerpoint/2010/main" val="6219371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CC04B5-ED9C-4D81-A6EA-AA181098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WORKFLOW ALIGNMENT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0DDF72E-6169-4C94-885C-0E819FE2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Airtable automations become managed workflow services</a:t>
            </a:r>
          </a:p>
        </p:txBody>
      </p:sp>
      <p:cxnSp>
        <p:nvCxnSpPr>
          <p:cNvPr id="87" name="Straight Arrow Connector 44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9CD4D63-CAC3-4C17-ABCE-66FC9F13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FEA4D54-CDA3-4AFF-A374-ABD65347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8478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8BA8F45-3F51-47E5-9A0D-71B6BA9B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Trigger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81F36D8-7EA9-4CC4-8E4A-BA2467A5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96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New record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Status change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Daily schedule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Weekly schedule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043AF93-D25F-4CCD-8DF3-2662AA3D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18478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2BC1CEA-CB05-4BE6-905C-73806998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05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Rule engine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971AB45-7C60-47DD-B196-48225D41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241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96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Tenant-scoped rules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Duplicate prevention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Dry-run mode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Enabled/disabled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E7052BF-F840-4E91-B871-E45670FE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14550"/>
            <a:ext cx="18478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249E473-32C2-4FFF-91DD-5C71DF6D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05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46351C7-8A80-4A76-91D5-11A73E14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241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96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Create task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Send reminder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Update KPI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Build digest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CA6DAF3-67DE-4F9A-A7D3-055B7B7A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14550"/>
            <a:ext cx="18478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A6E391E-8FD0-4399-9032-AC110E7D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05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B555A45-9744-4D5E-AF0E-E7792B72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241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96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Run log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Recipients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Skipped records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Errors</a:t>
            </a:r>
          </a:p>
        </p:txBody>
      </p:sp>
      <p:cxnSp>
        <p:nvCxnSpPr>
          <p:cNvPr id="101" name="Straight Arrow Connector 58"/>
          <p:cNvCxnSpPr/>
          <p:nvPr/>
        </p:nvCxnSpPr>
        <p:spPr>
          <a:xfrm xmlns:a="http://schemas.openxmlformats.org/drawingml/2006/main">
            <a:off x="2247900" y="28098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C37612E-4267-4474-AEAC-EA0FE883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241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/>
        </p:txBody>
      </p:sp>
      <p:cxnSp>
        <p:nvCxnSpPr>
          <p:cNvPr id="103" name="Straight Arrow Connector 60"/>
          <p:cNvCxnSpPr/>
          <p:nvPr/>
        </p:nvCxnSpPr>
        <p:spPr>
          <a:xfrm xmlns:a="http://schemas.openxmlformats.org/drawingml/2006/main">
            <a:off x="5429250" y="28098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CE3EFBA-F215-4888-9872-52058637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241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/>
        </p:txBody>
      </p:sp>
      <p:cxnSp>
        <p:nvCxnSpPr>
          <p:cNvPr id="105" name="Straight Arrow Connector 62"/>
          <p:cNvCxnSpPr/>
          <p:nvPr/>
        </p:nvCxnSpPr>
        <p:spPr>
          <a:xfrm xmlns:a="http://schemas.openxmlformats.org/drawingml/2006/main">
            <a:off x="8610600" y="28098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9856AAD-757D-4B8B-9C52-D72ABE4E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241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40ED530-F69A-4EF5-9FFE-600B4906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5209598-A25F-4D12-B5EA-60F47132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576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Airtable intent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23F7C5A-E0A6-4D0A-B864-A7BE519C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481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 equivalent</a:t>
            </a:r>
          </a:p>
        </p:txBody>
      </p:sp>
      <p:cxnSp>
        <p:nvCxnSpPr>
          <p:cNvPr id="110" name="Straight Arrow Connector 67"/>
          <p:cNvCxnSpPr/>
          <p:nvPr/>
        </p:nvCxnSpPr>
        <p:spPr>
          <a:xfrm xmlns:a="http://schemas.openxmlformats.org/drawingml/2006/main" rot="5400000">
            <a:off x="3448050" y="41719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FFFFFF"/>
            </a:solidFill>
            <a:prstDash val="solid"/>
          </a:ln>
        </p:spPr>
      </p:cxn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512756A-924C-4DAB-8951-1081E7E6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D813B11-FBF5-4E44-B1D4-061CB70B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Task due/overdue emails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AFAC6B6-7B3E-430B-ABCA-873CFF79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672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Notification service with batching, escalation, and delivery history.</a:t>
            </a:r>
          </a:p>
        </p:txBody>
      </p:sp>
      <p:cxnSp>
        <p:nvCxnSpPr>
          <p:cNvPr id="114" name="Straight Arrow Connector 71"/>
          <p:cNvCxnSpPr/>
          <p:nvPr/>
        </p:nvCxnSpPr>
        <p:spPr>
          <a:xfrm xmlns:a="http://schemas.openxmlformats.org/drawingml/2006/main" rot="5400000">
            <a:off x="3448050" y="45910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7F27CAF-7C8A-4F80-A500-CED8866B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CD86F46-3980-450D-A2D5-5F43CBF6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86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Compliance to task/calendar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ED666A11-2247-40D0-AA1F-CC7C9F83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863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Compliance rules that create linked tasks and renewal reminders.</a:t>
            </a:r>
          </a:p>
        </p:txBody>
      </p:sp>
      <p:cxnSp>
        <p:nvCxnSpPr>
          <p:cNvPr id="118" name="Straight Arrow Connector 75"/>
          <p:cNvCxnSpPr/>
          <p:nvPr/>
        </p:nvCxnSpPr>
        <p:spPr>
          <a:xfrm xmlns:a="http://schemas.openxmlformats.org/drawingml/2006/main" rot="5400000">
            <a:off x="3448050" y="50101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7D4278CE-2C68-4FC5-AEB7-031987BD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2E2587B6-B97D-4730-B54A-34EB5CEB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05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Scheduled task generation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96B5690C-CD2A-41F5-A770-0692BCC2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5054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Template and recurrence engine with idempotent task creation.</a:t>
            </a:r>
          </a:p>
        </p:txBody>
      </p:sp>
      <p:cxnSp>
        <p:nvCxnSpPr>
          <p:cNvPr id="122" name="Straight Arrow Connector 79"/>
          <p:cNvCxnSpPr/>
          <p:nvPr/>
        </p:nvCxnSpPr>
        <p:spPr>
          <a:xfrm xmlns:a="http://schemas.openxmlformats.org/drawingml/2006/main" rot="5400000">
            <a:off x="3448050" y="54292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8D7C5B25-516C-4FDB-9928-C4B1E63C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71A67F7B-1D4E-4F84-BE69-53A9499B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KPI alerts and owner digest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CD27B18B-8DE0-46ED-9B1E-7D94428C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924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Calculated KPI exceptions and role-aware digest notifications.</a:t>
            </a:r>
          </a:p>
        </p:txBody>
      </p:sp>
      <p:cxnSp>
        <p:nvCxnSpPr>
          <p:cNvPr id="126" name="Straight Arrow Connector 83"/>
          <p:cNvCxnSpPr/>
          <p:nvPr/>
        </p:nvCxnSpPr>
        <p:spPr>
          <a:xfrm xmlns:a="http://schemas.openxmlformats.org/drawingml/2006/main" rot="5400000">
            <a:off x="3448050" y="58483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2488096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E967C3-6CD2-47D6-9BD6-14F9BD12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WHAT WE ADD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9BC789-F78A-4ACD-88C5-B7449132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AnalyticalRx adds capabilities Airtable cannot own</a:t>
            </a:r>
          </a:p>
        </p:txBody>
      </p:sp>
      <p:cxnSp>
        <p:nvCxnSpPr>
          <p:cNvPr id="29" name="Straight Arrow Connector 25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07C903B-5FB2-47B5-A2FB-CD2BFE6C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8D73777-70F6-4801-B907-A9EB8A36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34480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AB447A4-4016-4CCB-BB1C-FD94E7D2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PrimeRx data pipeline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CCA7A54-D6DF-4414-B22B-7275B299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API, webhooks, and SFTP/batch sources can feed one product model.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DFFF591-7F81-4D2F-8DD8-9310176D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34480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77D1089-EBDD-432D-87DB-1946D4BF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526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Canonical event model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A912879-E0AE-46BD-97CB-5785EB0D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71725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5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Prescription, claim, payer, drug, and payment facts become reliable reporting inputs.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7082C3E-1A7C-4134-9516-FB66396F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62125"/>
            <a:ext cx="34480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3161A86-CD8A-4775-BD23-68485656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526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PHI-minimized boundary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197459C-B88D-4433-9939-AB42474E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71725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Raw payloads and source IDs stay restricted; dashboards query safe tables.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8721535-EFD3-4F64-A709-E624E7E4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34480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64AF871-93ED-42B3-8F7E-5A8732CA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Role and tenant security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CEA379A-B377-4E98-9836-34BFC555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5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Access follows pharmacy group, store, and role rather than shared base permissions.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83BFAB7-AFFD-45BB-BD5F-45327C2B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19500"/>
            <a:ext cx="34480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1A25570-DF51-44E8-BF5B-C83785BA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100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Audit and reconciliation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790B611-B975-4815-9077-6873A006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Received events, enrichment, retries, and skipped records are traceable.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27069F4-4AD7-49F0-A2C6-608F70FD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19500"/>
            <a:ext cx="34480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779734-A307-4CF8-960B-0B45D4F7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Future analytics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6ABE250-8E5F-4974-96FB-4CF8B03A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291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5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Forecasting, payer mix, drug profitability, anomaly detection, and recommendations can build on clean data.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D52BE27-8FA3-46D1-B9D3-795AE992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Airtable is the reference for what users need to manage. AnalyticalRx becomes the system that can safely automate and scale it.</a:t>
            </a:r>
          </a:p>
        </p:txBody>
      </p:sp>
    </p:spTree>
    <p:extLst>
      <p:ext uri="{BB962C8B-B14F-4D97-AF65-F5344CB8AC3E}">
        <p14:creationId xmlns:p14="http://schemas.microsoft.com/office/powerpoint/2010/main" val="10423430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67BE866-69B1-4024-872B-4AAFD0FD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DELIVERY PATH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F06443-1AE0-47C1-A748-36A5D7EE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phased plan keeps the first release focused</a:t>
            </a:r>
          </a:p>
        </p:txBody>
      </p:sp>
      <p:cxnSp>
        <p:nvCxnSpPr>
          <p:cNvPr id="29" name="Straight Arrow Connector 23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0EE925-CC54-475F-91FF-C4F2ACBF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cxnSp>
        <p:nvCxnSpPr>
          <p:cNvPr id="31" name="Straight Arrow Connector 25"/>
          <p:cNvCxnSpPr/>
          <p:nvPr/>
        </p:nvCxnSpPr>
        <p:spPr>
          <a:xfrm xmlns:a="http://schemas.openxmlformats.org/drawingml/2006/main">
            <a:off x="857250" y="495300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111"/>
            </a:solidFill>
            <a:prstDash val="solid"/>
          </a:ln>
        </p:spPr>
      </p:cxn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66FF8B9-9EC2-4CF8-93FE-12569406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2857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8BB3B1A-5B9F-49E2-A818-1D7E6409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Data foundation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2FDDC8D-A1DE-432C-B47C-BB7D835B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2400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PrimeRx ingestion, canonical database, safe starter dashboards, audit visibility.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8E1C453D-5E91-4A6E-8E92-37B3E27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C36C485-F0C2-4CE2-8229-692C491C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Phase 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C2C1A98-3C78-4D70-873F-44DDC8DF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C542734-54F0-4F8C-9E5B-37A4B317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812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Operating workflows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D2C21C9-F883-4446-A1CB-F6DDE519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14650"/>
            <a:ext cx="2400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Tasks, compliance, documents, reminders, role dashboards, workflow logs.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5AA62291-D984-417D-99FF-9AA76818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876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090FBDD-B75F-4A17-B2C8-FC372599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19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Phase 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0D5CCF3-2B80-4F5B-ADAC-A37D9B9F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2857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C836C24-6DBD-4216-A4CF-ED50D8FE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Advanced insights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AAA78D2-C7B8-4AD5-AE8F-AC97E595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2400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Forecasting, payer/drug analysis, referral intelligence, configurable automation rules.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A23691F5-D412-4F61-A53F-8DCE194A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76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D3609E2-C62B-4D3B-A7AB-1A7D0772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Phase 3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7B25AB4-9A49-457D-95B1-8DC1298F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The first commitment should be data ingestion plus starter dashboards. Airtable-style workflows should follow after the source data and roles are stable.</a:t>
            </a:r>
          </a:p>
        </p:txBody>
      </p:sp>
    </p:spTree>
    <p:extLst>
      <p:ext uri="{BB962C8B-B14F-4D97-AF65-F5344CB8AC3E}">
        <p14:creationId xmlns:p14="http://schemas.microsoft.com/office/powerpoint/2010/main" val="19144792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29EA0AE-EDC0-4679-8635-7EA7B1D3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FUTURE REQUIREMENTS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1E19F2B-C445-4DFD-9E82-6BCD965B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Two production dependencies should start early</a:t>
            </a:r>
          </a:p>
        </p:txBody>
      </p:sp>
      <p:cxnSp>
        <p:nvCxnSpPr>
          <p:cNvPr id="18" name="Straight Arrow Connector 14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EAE0560-2499-4B59-885A-068F43B2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97137FB-C804-4BD3-A9FB-B374484B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These are not blockers for design review, but they should be planned now so production rollout does not stall when real pharmacy data starts flowing.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086922E-8027-4A9C-9540-16FFF3E4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5334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35EC38F-B3A8-4E5C-B9FE-9E3B8B16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AWS BAA readiness before production PHI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D4A5578-55F0-40E9-AA0C-4F578B04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914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Needed before production PHI/ePHI is processed in AWS.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Accept/manage the BAA through AWS Artifact for the account or organization.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Use HIPAA-eligible AWS services with compliant security configuration.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AWS Artifact agreements are free; normal AWS service usage and legal/security review effort still apply.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9AB86ED-8976-46A1-ACF4-D0285541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24150"/>
            <a:ext cx="5334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F8F558A-4503-4EF3-A59C-640088EC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PrimeRx API/backfill access for data completeness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EB648A6-7DD8-4CA4-BE61-8648C313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914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Webhooks tell us what changed, but may not include all fields or history.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API/SFTP backfill gives starter history instead of empty day-one dashboards.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API enrichment fills missing details for webhook events and missed corrections.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Reconciliation improves trust in totals, payer/drug views, reversals, and rejections.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7F087DB-4BD1-4C40-86B9-40D1C01D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9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Practical rule: webhooks tell us what changed; API/backfill tells us what we missed, what happened before integration, and what details need enrichment.</a:t>
            </a:r>
          </a:p>
        </p:txBody>
      </p:sp>
    </p:spTree>
    <p:extLst>
      <p:ext uri="{BB962C8B-B14F-4D97-AF65-F5344CB8AC3E}">
        <p14:creationId xmlns:p14="http://schemas.microsoft.com/office/powerpoint/2010/main" val="14982487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A7E1CA1-420F-4C55-A819-AF2B5F4F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ALIGNMENT SUMMARY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0179EC4-FD9E-45E9-9A91-41903ECC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Airtable review confirms the planned product direction</a:t>
            </a:r>
          </a:p>
        </p:txBody>
      </p:sp>
      <p:cxnSp>
        <p:nvCxnSpPr>
          <p:cNvPr id="21" name="Straight Arrow Connector 17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FBE0354-5406-4B74-A0B6-8E4BA1C3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AED17A-4BBD-40FF-AE6D-7A88D844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We are not using the Airtable review to choose a new direction. The review confirms that the product we planned already aligns with the client’s operating model.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4ED80AE-1728-414A-AE89-2D7258E8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429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4A889A0-7EE3-4C4D-94C1-BA0345F9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6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Phase 1 remains starter dashboards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22913CB-AF76-461E-A358-39198166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3009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Build PrimeRx ingestion, canonical event storage, audit visibility, and initial owner/store/KPI/daily performance dashboards.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AB20E11-E5EE-4105-AF84-61048040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3429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F9DF4BE-3267-478C-B242-164D9B7C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Airtable validates the scope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3602638-D073-4D28-8FB2-668ED90E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67100"/>
            <a:ext cx="3009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current tables and interfaces line up with planned modules: owner, finance, technician, compliance, daily sales, and growth workflows.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C94686D-E26D-4F37-9671-DB28A128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3429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EF7E8B8-1A59-40E9-98ED-ABC055AA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Phase 2 expands workflows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09D8E6D-493A-4E4B-B985-C2CB51F4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67100"/>
            <a:ext cx="3009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7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Tasks, compliance reminders, documents, SOP acknowledgments, doctor outreach, and recurring automations build on the Phase 1 data foundation.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5355AB2-FAC3-4BFF-862E-AB616C08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0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Review purpose: validate that our understanding is accurate and aligned with the planned AnalyticalRx product, not reopen the Phase 1 dashboard decision.</a:t>
            </a:r>
          </a:p>
        </p:txBody>
      </p:sp>
    </p:spTree>
    <p:extLst>
      <p:ext uri="{BB962C8B-B14F-4D97-AF65-F5344CB8AC3E}">
        <p14:creationId xmlns:p14="http://schemas.microsoft.com/office/powerpoint/2010/main" val="20693107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956637-1CCA-486A-B213-1671DA69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NEXT DELIVERABLE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C9A22-1858-49F1-82F7-5F5872FB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full PRD will follow; Phase 1 is already moving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C4EF1-6BF6-4118-864E-AD0376EE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5B1AF-B216-4615-BCB9-F6A3C01A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3"/>
                </a:solidFill>
                <a:latin typeface="Helvetica Neue"/>
                <a:ea typeface="Helvetica Neue"/>
                <a:cs typeface="Helvetica Neue"/>
              </a:rPr>
              <a:t>This deck validates our understanding from Airtable and confirms it aligns with the product already planned. The PRD will provide the deeper non-technical delivery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B147E-EFAD-4FDB-9162-FB6A9555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5334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CBE63-19A1-44F2-8F80-5B272570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Non-technical PRD in two weeks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55C9D-F528-44C5-A699-9404A8C5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35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 will provide a Product Requirements Document that explains the product in business terms, not engineering implementation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It will include the phase-by-phase delivery plan, planned dashboards, workflow modules, data dependencies, assumptions, open questions, and acceptance criteria for each phase.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6AA7E-EB4A-486A-B92D-02099C51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57500"/>
            <a:ext cx="5334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338D5-FFCB-49DA-89C1-718688C6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Phase 1 is not waiting on the PRD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317CE-DD29-416A-853A-6AD4B34B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190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5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Phase 1 has already been stated and work is in progress: PrimeRx integration, event ingestion, canonical storage, audit visibility, and starter dashboards.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PRD will clarify the broader roadmap and sequencing, while Phase 1 delivery continues.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972D3-63A5-44E2-881C-527617E9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Positioning: the PRD is the detailed product roadmap; it does not reopen the Phase 1 commitment.</a:t>
            </a:r>
          </a:p>
        </p:txBody>
      </p:sp>
    </p:spTree>
    <p:extLst>
      <p:ext uri="{BB962C8B-B14F-4D97-AF65-F5344CB8AC3E}">
        <p14:creationId xmlns:p14="http://schemas.microsoft.com/office/powerpoint/2010/main" val="1300848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2026-07-25T19:15:06.7780000Z</dcterms:created>
  <dcterms:modified xsi:type="dcterms:W3CDTF">2026-07-25T19:15:06.7780000Z</dcterms:modified>
</coreProperties>
</file>