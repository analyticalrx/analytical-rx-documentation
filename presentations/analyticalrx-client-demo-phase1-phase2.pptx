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4"/>
  </p:normalViewPr>
  <p:slideViewPr>
    <p:cSldViewPr snapToGrid="0">
      <p:cViewPr varScale="1">
        <p:scale>
          <a:sx n="131" d="100"/>
          <a:sy n="131" d="100"/>
        </p:scale>
        <p:origin x="1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54F4A1-AFD0-455C-896A-AE1A8D854B5E}"/>
              </a:ext>
            </a:extLst>
          </p:cNvPr>
          <p:cNvSpPr>
            <a:spLocks noGrp="1"/>
          </p:cNvSpPr>
          <p:nvPr/>
        </p:nvSpPr>
        <p:spPr>
          <a:xfrm>
            <a:off x="533400" y="154305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</a:rPr>
              <a:t>AnalyticalRx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579CD8-F125-4A2C-8768-0405D01CBFF3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809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Multi-Pharmacy Analytics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0CD706-A188-49BD-8045-F753F45B9140}"/>
              </a:ext>
            </a:extLst>
          </p:cNvPr>
          <p:cNvSpPr>
            <a:spLocks noGrp="1"/>
          </p:cNvSpPr>
          <p:nvPr/>
        </p:nvSpPr>
        <p:spPr>
          <a:xfrm>
            <a:off x="571500" y="321945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Phase 1 / Phase 2 architecture, data flow, and dashboard concepts for review.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AD4478-5808-4833-A475-2C8138AFC9C0}"/>
              </a:ext>
            </a:extLst>
          </p:cNvPr>
          <p:cNvSpPr>
            <a:spLocks noGrp="1"/>
          </p:cNvSpPr>
          <p:nvPr/>
        </p:nvSpPr>
        <p:spPr>
          <a:xfrm>
            <a:off x="8572500" y="1047750"/>
            <a:ext cx="2571750" cy="3429000"/>
          </a:xfrm>
          <a:prstGeom prst="roundRect">
            <a:avLst>
              <a:gd name="adj" fmla="val 2963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33CEE8-EBB6-4065-856E-8BB28AD04D3F}"/>
              </a:ext>
            </a:extLst>
          </p:cNvPr>
          <p:cNvSpPr>
            <a:spLocks noGrp="1"/>
          </p:cNvSpPr>
          <p:nvPr/>
        </p:nvSpPr>
        <p:spPr>
          <a:xfrm>
            <a:off x="8858250" y="1447800"/>
            <a:ext cx="2095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The platform should answer one business question: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93DF42-A01A-4AC9-9B3B-044C090A80B5}"/>
              </a:ext>
            </a:extLst>
          </p:cNvPr>
          <p:cNvSpPr>
            <a:spLocks noGrp="1"/>
          </p:cNvSpPr>
          <p:nvPr/>
        </p:nvSpPr>
        <p:spPr>
          <a:xfrm>
            <a:off x="8858250" y="2495550"/>
            <a:ext cx="2095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Why is each pharmacy growing, staying flat, or declining?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781875-EA6A-4AA4-A9FB-31EBFE5EE2A3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AnalyticalRx client planning deck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C00A54-FB07-4006-AC87-A88CBCB6FF80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33930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6560EB6-D58A-4E54-B238-0FA0BAC2049A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857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first product is a multi-pharmacy operating dashboard.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103B37-4132-4BD3-9EA4-07961245ADF1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111252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2E892F-B3FD-4980-A953-01D81A9AA67C}"/>
              </a:ext>
            </a:extLst>
          </p:cNvPr>
          <p:cNvSpPr>
            <a:spLocks noGrp="1"/>
          </p:cNvSpPr>
          <p:nvPr/>
        </p:nvSpPr>
        <p:spPr>
          <a:xfrm>
            <a:off x="571500" y="16954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Based on the requirements brief, the product should give each role a clear view of daily pharmacy performance and work that needs attention.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3451D1-12A7-4186-A54A-5B342721DDC3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33337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155BDD-2F9B-4335-A309-2F02688A25E2}"/>
              </a:ext>
            </a:extLst>
          </p:cNvPr>
          <p:cNvSpPr>
            <a:spLocks noGrp="1"/>
          </p:cNvSpPr>
          <p:nvPr/>
        </p:nvSpPr>
        <p:spPr>
          <a:xfrm>
            <a:off x="781050" y="27432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Owner 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C3458C-10BB-40EB-9263-BAC3579728CE}"/>
              </a:ext>
            </a:extLst>
          </p:cNvPr>
          <p:cNvSpPr>
            <a:spLocks noGrp="1"/>
          </p:cNvSpPr>
          <p:nvPr/>
        </p:nvSpPr>
        <p:spPr>
          <a:xfrm>
            <a:off x="781050" y="3124200"/>
            <a:ext cx="29146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Company KPIs, store comparison, prescription volume, revenue, gross profit, payer mix, and high-level trends.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F4209A1-7B32-4F89-A729-C95634A5297A}"/>
              </a:ext>
            </a:extLst>
          </p:cNvPr>
          <p:cNvSpPr>
            <a:spLocks noGrp="1"/>
          </p:cNvSpPr>
          <p:nvPr/>
        </p:nvSpPr>
        <p:spPr>
          <a:xfrm>
            <a:off x="4429125" y="2571750"/>
            <a:ext cx="33337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7AE7E3-7458-4DF5-B968-65BD4E77F57A}"/>
              </a:ext>
            </a:extLst>
          </p:cNvPr>
          <p:cNvSpPr>
            <a:spLocks noGrp="1"/>
          </p:cNvSpPr>
          <p:nvPr/>
        </p:nvSpPr>
        <p:spPr>
          <a:xfrm>
            <a:off x="4638675" y="27432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Store and operations view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776A4F-89C4-4360-8E54-CAB02555D406}"/>
              </a:ext>
            </a:extLst>
          </p:cNvPr>
          <p:cNvSpPr>
            <a:spLocks noGrp="1"/>
          </p:cNvSpPr>
          <p:nvPr/>
        </p:nvSpPr>
        <p:spPr>
          <a:xfrm>
            <a:off x="4638675" y="3124200"/>
            <a:ext cx="29146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RX queues, rejected claims, prior authorization work, delivery/pickup status, inventory issues, and task follow-up.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D154303-801B-472D-9293-CF448FE97B46}"/>
              </a:ext>
            </a:extLst>
          </p:cNvPr>
          <p:cNvSpPr>
            <a:spLocks noGrp="1"/>
          </p:cNvSpPr>
          <p:nvPr/>
        </p:nvSpPr>
        <p:spPr>
          <a:xfrm>
            <a:off x="8286750" y="2571750"/>
            <a:ext cx="33337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7B330F-23D6-4DF4-BB3D-CE24354CE0A7}"/>
              </a:ext>
            </a:extLst>
          </p:cNvPr>
          <p:cNvSpPr>
            <a:spLocks noGrp="1"/>
          </p:cNvSpPr>
          <p:nvPr/>
        </p:nvSpPr>
        <p:spPr>
          <a:xfrm>
            <a:off x="8496300" y="27432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Finance and admin view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096821-3969-4646-BB76-99C748D4A267}"/>
              </a:ext>
            </a:extLst>
          </p:cNvPr>
          <p:cNvSpPr>
            <a:spLocks noGrp="1"/>
          </p:cNvSpPr>
          <p:nvPr/>
        </p:nvSpPr>
        <p:spPr>
          <a:xfrm>
            <a:off x="8496300" y="3124200"/>
            <a:ext cx="29146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Deposits, receivables, costs, close checklist, licenses, documents, expirations, and audit history.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283970-9BA3-4BD9-9402-EBA6E66D09FB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1043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Phase 1 is about integration and starter dashboards. Analytics and insights come after the data foundation is stable.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CF54A4-F4AF-4D1E-B5B2-C4452A060E55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AnalyticalRx client planning deck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5F97E6-7382-44D3-A073-6448E2FEB643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65029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EFA6486-5A24-4D11-91B7-C5A9E9234355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857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We will use approved PrimeRx and Micro Merchant data channels.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D0976E-C7CA-4234-B8A8-8957E24747AF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111252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809DCC8-8EA4-49B3-A2B6-9EFEA761C01A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3143250" cy="2381250"/>
          </a:xfrm>
          <a:prstGeom prst="roundRect">
            <a:avLst>
              <a:gd name="adj" fmla="val 3200"/>
            </a:avLst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5081E2-CD4E-4A95-9AD1-464FAB6BEFFA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Webhooks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EAEA75-1017-4B04-AF7F-F5038651CABA}"/>
              </a:ext>
            </a:extLst>
          </p:cNvPr>
          <p:cNvSpPr>
            <a:spLocks noGrp="1"/>
          </p:cNvSpPr>
          <p:nvPr/>
        </p:nvSpPr>
        <p:spPr>
          <a:xfrm>
            <a:off x="876300" y="2552700"/>
            <a:ext cx="27241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Event notifications when important pharmacy or transaction activity changes.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AB02CE-05FF-4B62-9EB7-D6F169E807F0}"/>
              </a:ext>
            </a:extLst>
          </p:cNvPr>
          <p:cNvSpPr>
            <a:spLocks noGrp="1"/>
          </p:cNvSpPr>
          <p:nvPr/>
        </p:nvSpPr>
        <p:spPr>
          <a:xfrm>
            <a:off x="952500" y="37338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Timely updates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28E6E39-85B4-4BA0-A984-DDA00FC01C6D}"/>
              </a:ext>
            </a:extLst>
          </p:cNvPr>
          <p:cNvSpPr>
            <a:spLocks noGrp="1"/>
          </p:cNvSpPr>
          <p:nvPr/>
        </p:nvSpPr>
        <p:spPr>
          <a:xfrm>
            <a:off x="4524375" y="2000250"/>
            <a:ext cx="3143250" cy="2381250"/>
          </a:xfrm>
          <a:prstGeom prst="roundRect">
            <a:avLst>
              <a:gd name="adj" fmla="val 3200"/>
            </a:avLst>
          </a:prstGeom>
          <a:solidFill>
            <a:srgbClr val="CCFBF1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69CBED-2CF0-4B9B-AE2C-A6C099881135}"/>
              </a:ext>
            </a:extLst>
          </p:cNvPr>
          <p:cNvSpPr>
            <a:spLocks noGrp="1"/>
          </p:cNvSpPr>
          <p:nvPr/>
        </p:nvSpPr>
        <p:spPr>
          <a:xfrm>
            <a:off x="4733925" y="21717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B5C655-A10B-4353-8E30-738A2FFB692E}"/>
              </a:ext>
            </a:extLst>
          </p:cNvPr>
          <p:cNvSpPr>
            <a:spLocks noGrp="1"/>
          </p:cNvSpPr>
          <p:nvPr/>
        </p:nvSpPr>
        <p:spPr>
          <a:xfrm>
            <a:off x="4733925" y="2552700"/>
            <a:ext cx="27241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On-demand lookup for approved prescription, payer, drug, refill, pickup, and financial details.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AB0169-71D1-41AA-9463-2ADEBAF998C7}"/>
              </a:ext>
            </a:extLst>
          </p:cNvPr>
          <p:cNvSpPr>
            <a:spLocks noGrp="1"/>
          </p:cNvSpPr>
          <p:nvPr/>
        </p:nvSpPr>
        <p:spPr>
          <a:xfrm>
            <a:off x="4810125" y="37338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Detail lookup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A5373D7-EB13-431E-A23B-F976563B6ED1}"/>
              </a:ext>
            </a:extLst>
          </p:cNvPr>
          <p:cNvSpPr>
            <a:spLocks noGrp="1"/>
          </p:cNvSpPr>
          <p:nvPr/>
        </p:nvSpPr>
        <p:spPr>
          <a:xfrm>
            <a:off x="8382000" y="2000250"/>
            <a:ext cx="3143250" cy="2381250"/>
          </a:xfrm>
          <a:prstGeom prst="roundRect">
            <a:avLst>
              <a:gd name="adj" fmla="val 3200"/>
            </a:avLst>
          </a:prstGeom>
          <a:solidFill>
            <a:srgbClr val="FEF3C7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96EF42-046A-4832-BA0B-C7A2B0799D40}"/>
              </a:ext>
            </a:extLst>
          </p:cNvPr>
          <p:cNvSpPr>
            <a:spLocks noGrp="1"/>
          </p:cNvSpPr>
          <p:nvPr/>
        </p:nvSpPr>
        <p:spPr>
          <a:xfrm>
            <a:off x="8591550" y="21717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B45309"/>
                </a:solidFill>
              </a:defRPr>
            </a:pPr>
            <a:r>
              <a:rPr sz="1650" b="1">
                <a:solidFill>
                  <a:srgbClr val="B45309"/>
                </a:solidFill>
              </a:rPr>
              <a:t>SFTP feeds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9C4B02-BB6E-4AA8-966E-71A24B27251D}"/>
              </a:ext>
            </a:extLst>
          </p:cNvPr>
          <p:cNvSpPr>
            <a:spLocks noGrp="1"/>
          </p:cNvSpPr>
          <p:nvPr/>
        </p:nvSpPr>
        <p:spPr>
          <a:xfrm>
            <a:off x="8591550" y="2552700"/>
            <a:ext cx="27241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Historical backfill and daily files based on the field specification we agree with PrimeRx.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3CFEBE-F5CD-4FD0-8F56-3129F0525C78}"/>
              </a:ext>
            </a:extLst>
          </p:cNvPr>
          <p:cNvSpPr>
            <a:spLocks noGrp="1"/>
          </p:cNvSpPr>
          <p:nvPr/>
        </p:nvSpPr>
        <p:spPr>
          <a:xfrm>
            <a:off x="8667750" y="37338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B45309"/>
                </a:solidFill>
              </a:defRPr>
            </a:pPr>
            <a:r>
              <a:rPr sz="1800" b="1">
                <a:solidFill>
                  <a:srgbClr val="B45309"/>
                </a:solidFill>
              </a:rPr>
              <a:t>Batch history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769C76-5749-4C14-A2F1-0A2CB2ED6A00}"/>
              </a:ext>
            </a:extLst>
          </p:cNvPr>
          <p:cNvSpPr>
            <a:spLocks noGrp="1"/>
          </p:cNvSpPr>
          <p:nvPr/>
        </p:nvSpPr>
        <p:spPr>
          <a:xfrm>
            <a:off x="742950" y="51244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This is the planned integration approach. Final field coverage, timing, and cost depend on vendor configuration and approved data-sharing scope.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1ED84E-F4B4-4116-8BE2-8D070318863F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AnalyticalRx client planning deck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F2E82B-8C7D-4014-B0B6-D21638E8D130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74041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37ABCF8-46BC-40B2-94C8-B13B85F3F7A0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857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data flow creates the foundation for dashboards first.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760D45-9D7A-4481-AD8F-0E2F4864C7E4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111252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6045186-B634-47D6-920E-C7421B7C2436}"/>
              </a:ext>
            </a:extLst>
          </p:cNvPr>
          <p:cNvSpPr>
            <a:spLocks noGrp="1"/>
          </p:cNvSpPr>
          <p:nvPr/>
        </p:nvSpPr>
        <p:spPr>
          <a:xfrm>
            <a:off x="476250" y="2190750"/>
            <a:ext cx="161925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79C9E5-0CD9-498E-A804-6CD681B3239F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1352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Data channels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5838CF-A5C2-4E8C-853B-1B940FD95285}"/>
              </a:ext>
            </a:extLst>
          </p:cNvPr>
          <p:cNvSpPr>
            <a:spLocks noGrp="1"/>
          </p:cNvSpPr>
          <p:nvPr/>
        </p:nvSpPr>
        <p:spPr>
          <a:xfrm>
            <a:off x="619125" y="2952750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Webhooks, API, and SFTP feeds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E2663B-4AA7-4D7D-A6FF-24624B382C71}"/>
              </a:ext>
            </a:extLst>
          </p:cNvPr>
          <p:cNvSpPr>
            <a:spLocks noGrp="1"/>
          </p:cNvSpPr>
          <p:nvPr/>
        </p:nvSpPr>
        <p:spPr>
          <a:xfrm>
            <a:off x="2074422" y="2724150"/>
            <a:ext cx="361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CBD5E1"/>
                </a:solidFill>
              </a:defRPr>
            </a:pPr>
            <a:r>
              <a:rPr sz="2550" b="1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C222B16-BEF2-44B2-9122-D72A62D8634E}"/>
              </a:ext>
            </a:extLst>
          </p:cNvPr>
          <p:cNvSpPr>
            <a:spLocks noGrp="1"/>
          </p:cNvSpPr>
          <p:nvPr/>
        </p:nvSpPr>
        <p:spPr>
          <a:xfrm>
            <a:off x="2381250" y="2190750"/>
            <a:ext cx="1619250" cy="1504950"/>
          </a:xfrm>
          <a:prstGeom prst="roundRect">
            <a:avLst>
              <a:gd name="adj" fmla="val 5063"/>
            </a:avLst>
          </a:prstGeom>
          <a:solidFill>
            <a:srgbClr val="F3F4F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196EF5-FA3E-44D5-A918-7570E760DE4C}"/>
              </a:ext>
            </a:extLst>
          </p:cNvPr>
          <p:cNvSpPr>
            <a:spLocks noGrp="1"/>
          </p:cNvSpPr>
          <p:nvPr/>
        </p:nvSpPr>
        <p:spPr>
          <a:xfrm>
            <a:off x="2514600" y="2400300"/>
            <a:ext cx="1352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Secure ingestion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7F7C0D-4D0D-4C04-B0F2-378C11BDD148}"/>
              </a:ext>
            </a:extLst>
          </p:cNvPr>
          <p:cNvSpPr>
            <a:spLocks noGrp="1"/>
          </p:cNvSpPr>
          <p:nvPr/>
        </p:nvSpPr>
        <p:spPr>
          <a:xfrm>
            <a:off x="2524125" y="2952750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Validate, log, and queue incoming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92AB72-5A93-4742-A350-868909B7883F}"/>
              </a:ext>
            </a:extLst>
          </p:cNvPr>
          <p:cNvSpPr>
            <a:spLocks noGrp="1"/>
          </p:cNvSpPr>
          <p:nvPr/>
        </p:nvSpPr>
        <p:spPr>
          <a:xfrm>
            <a:off x="3979422" y="2724150"/>
            <a:ext cx="361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CBD5E1"/>
                </a:solidFill>
              </a:defRPr>
            </a:pPr>
            <a:r>
              <a:rPr sz="2550" b="1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48B78D1-8066-4ECF-80A8-7512B49106BB}"/>
              </a:ext>
            </a:extLst>
          </p:cNvPr>
          <p:cNvSpPr>
            <a:spLocks noGrp="1"/>
          </p:cNvSpPr>
          <p:nvPr/>
        </p:nvSpPr>
        <p:spPr>
          <a:xfrm>
            <a:off x="4286250" y="2190750"/>
            <a:ext cx="161925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426E3D-F75A-497F-93A9-42A1B06D8D2D}"/>
              </a:ext>
            </a:extLst>
          </p:cNvPr>
          <p:cNvSpPr>
            <a:spLocks noGrp="1"/>
          </p:cNvSpPr>
          <p:nvPr/>
        </p:nvSpPr>
        <p:spPr>
          <a:xfrm>
            <a:off x="4419600" y="2400300"/>
            <a:ext cx="1352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Restricted reference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F1BB69-D747-44BE-925D-C98158EB1F31}"/>
              </a:ext>
            </a:extLst>
          </p:cNvPr>
          <p:cNvSpPr>
            <a:spLocks noGrp="1"/>
          </p:cNvSpPr>
          <p:nvPr/>
        </p:nvSpPr>
        <p:spPr>
          <a:xfrm>
            <a:off x="4429125" y="2952750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Keep source IDs only where needed for lookup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DB768B-8FFF-4C30-A713-BD7F2D34976D}"/>
              </a:ext>
            </a:extLst>
          </p:cNvPr>
          <p:cNvSpPr>
            <a:spLocks noGrp="1"/>
          </p:cNvSpPr>
          <p:nvPr/>
        </p:nvSpPr>
        <p:spPr>
          <a:xfrm>
            <a:off x="5894150" y="2724150"/>
            <a:ext cx="361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CBD5E1"/>
                </a:solidFill>
              </a:defRPr>
            </a:pPr>
            <a:r>
              <a:rPr sz="2550" b="1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B8AD89F-3AE7-41C9-85E7-A34AACC4AD5C}"/>
              </a:ext>
            </a:extLst>
          </p:cNvPr>
          <p:cNvSpPr>
            <a:spLocks noGrp="1"/>
          </p:cNvSpPr>
          <p:nvPr/>
        </p:nvSpPr>
        <p:spPr>
          <a:xfrm>
            <a:off x="6191250" y="2190750"/>
            <a:ext cx="1619250" cy="1504950"/>
          </a:xfrm>
          <a:prstGeom prst="roundRect">
            <a:avLst>
              <a:gd name="adj" fmla="val 5063"/>
            </a:avLst>
          </a:prstGeom>
          <a:solidFill>
            <a:srgbClr val="F3F4F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C0D453-B447-4BE4-8247-82585BE8A7B9}"/>
              </a:ext>
            </a:extLst>
          </p:cNvPr>
          <p:cNvSpPr>
            <a:spLocks noGrp="1"/>
          </p:cNvSpPr>
          <p:nvPr/>
        </p:nvSpPr>
        <p:spPr>
          <a:xfrm>
            <a:off x="6324600" y="2400300"/>
            <a:ext cx="1352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HIPAA minimization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1093E1-A77E-47CB-88A5-EFB3EF30F81D}"/>
              </a:ext>
            </a:extLst>
          </p:cNvPr>
          <p:cNvSpPr>
            <a:spLocks noGrp="1"/>
          </p:cNvSpPr>
          <p:nvPr/>
        </p:nvSpPr>
        <p:spPr>
          <a:xfrm>
            <a:off x="6334125" y="2952750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Exclude direct identifiers from dashboard views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EE5863-78B3-4DB4-8964-3B11F24F049B}"/>
              </a:ext>
            </a:extLst>
          </p:cNvPr>
          <p:cNvSpPr>
            <a:spLocks noGrp="1"/>
          </p:cNvSpPr>
          <p:nvPr/>
        </p:nvSpPr>
        <p:spPr>
          <a:xfrm>
            <a:off x="7789423" y="2724150"/>
            <a:ext cx="361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CBD5E1"/>
                </a:solidFill>
              </a:defRPr>
            </a:pPr>
            <a:r>
              <a:rPr sz="2550" b="1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1D805DF-7F2E-4280-85C5-7BBA89639F7B}"/>
              </a:ext>
            </a:extLst>
          </p:cNvPr>
          <p:cNvSpPr>
            <a:spLocks noGrp="1"/>
          </p:cNvSpPr>
          <p:nvPr/>
        </p:nvSpPr>
        <p:spPr>
          <a:xfrm>
            <a:off x="8096250" y="2190750"/>
            <a:ext cx="161925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C9573D-2EA7-4303-AD81-E17F7FC485F3}"/>
              </a:ext>
            </a:extLst>
          </p:cNvPr>
          <p:cNvSpPr>
            <a:spLocks noGrp="1"/>
          </p:cNvSpPr>
          <p:nvPr/>
        </p:nvSpPr>
        <p:spPr>
          <a:xfrm>
            <a:off x="8229600" y="2400300"/>
            <a:ext cx="1352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Clean model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2CCA70-DE1B-44AD-8635-F78BB5899E0B}"/>
              </a:ext>
            </a:extLst>
          </p:cNvPr>
          <p:cNvSpPr>
            <a:spLocks noGrp="1"/>
          </p:cNvSpPr>
          <p:nvPr/>
        </p:nvSpPr>
        <p:spPr>
          <a:xfrm>
            <a:off x="8239125" y="2952750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Store pharmacy, payer, drug, and KPI-ready facts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82711C-E216-4364-AA1A-FFEAD0DFE9D7}"/>
              </a:ext>
            </a:extLst>
          </p:cNvPr>
          <p:cNvSpPr>
            <a:spLocks noGrp="1"/>
          </p:cNvSpPr>
          <p:nvPr/>
        </p:nvSpPr>
        <p:spPr>
          <a:xfrm>
            <a:off x="9684694" y="2724150"/>
            <a:ext cx="361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CBD5E1"/>
                </a:solidFill>
              </a:defRPr>
            </a:pPr>
            <a:r>
              <a:rPr sz="2550" b="1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E7127B5-CD4E-4974-B095-EC7FBB3914B9}"/>
              </a:ext>
            </a:extLst>
          </p:cNvPr>
          <p:cNvSpPr>
            <a:spLocks noGrp="1"/>
          </p:cNvSpPr>
          <p:nvPr/>
        </p:nvSpPr>
        <p:spPr>
          <a:xfrm>
            <a:off x="10001250" y="2190750"/>
            <a:ext cx="1619250" cy="1504950"/>
          </a:xfrm>
          <a:prstGeom prst="roundRect">
            <a:avLst>
              <a:gd name="adj" fmla="val 5063"/>
            </a:avLst>
          </a:prstGeom>
          <a:solidFill>
            <a:srgbClr val="F3F4F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763FD0-18ED-4555-9F66-0140B4821F66}"/>
              </a:ext>
            </a:extLst>
          </p:cNvPr>
          <p:cNvSpPr>
            <a:spLocks noGrp="1"/>
          </p:cNvSpPr>
          <p:nvPr/>
        </p:nvSpPr>
        <p:spPr>
          <a:xfrm>
            <a:off x="10134600" y="2400300"/>
            <a:ext cx="1352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Starter dashboards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C1DDD8-087B-49A5-B633-10D2B94E7C2A}"/>
              </a:ext>
            </a:extLst>
          </p:cNvPr>
          <p:cNvSpPr>
            <a:spLocks noGrp="1"/>
          </p:cNvSpPr>
          <p:nvPr/>
        </p:nvSpPr>
        <p:spPr>
          <a:xfrm>
            <a:off x="10144125" y="2952750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Show KPIs, queues, trends, and exceptions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8AEA1B8-E01C-4845-AEE7-D7948BA280A8}"/>
              </a:ext>
            </a:extLst>
          </p:cNvPr>
          <p:cNvSpPr>
            <a:spLocks noGrp="1"/>
          </p:cNvSpPr>
          <p:nvPr/>
        </p:nvSpPr>
        <p:spPr>
          <a:xfrm>
            <a:off x="762000" y="4400550"/>
            <a:ext cx="10668000" cy="857250"/>
          </a:xfrm>
          <a:prstGeom prst="roundRect">
            <a:avLst>
              <a:gd name="adj" fmla="val 8889"/>
            </a:avLst>
          </a:prstGeom>
          <a:solidFill>
            <a:srgbClr val="CCFBF1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6DB697-0302-4865-B870-531F047E51F0}"/>
              </a:ext>
            </a:extLst>
          </p:cNvPr>
          <p:cNvSpPr>
            <a:spLocks noGrp="1"/>
          </p:cNvSpPr>
          <p:nvPr/>
        </p:nvSpPr>
        <p:spPr>
          <a:xfrm>
            <a:off x="1123950" y="4629150"/>
            <a:ext cx="9944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Design principle: Phase 1 dashboards use cleaned and minimized business data. The same model becomes the base for Phase 2 insights.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45BB27-D2CB-4366-9D20-FD7B8EDE69E5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AnalyticalRx client planning deck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6310615-3E9E-4584-B064-2B5860F6A6E1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93379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1E230E5-7F15-45D4-AFAB-CAD2ABAED5B2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857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storage model supports traceability without exposing patient identifiers.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AFC25D-2A13-403C-A460-FA75B7A78C39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111252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3C30DD3-31E3-4762-B550-1F8D5F5A7EEB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3238500" cy="2190750"/>
          </a:xfrm>
          <a:prstGeom prst="roundRect">
            <a:avLst>
              <a:gd name="adj" fmla="val 3478"/>
            </a:avLst>
          </a:prstGeom>
          <a:solidFill>
            <a:srgbClr val="FEE2E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E14E00-B8FF-4A55-A801-50A77EB6217F}"/>
              </a:ext>
            </a:extLst>
          </p:cNvPr>
          <p:cNvSpPr>
            <a:spLocks noGrp="1"/>
          </p:cNvSpPr>
          <p:nvPr/>
        </p:nvSpPr>
        <p:spPr>
          <a:xfrm>
            <a:off x="923925" y="22669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B91C1C"/>
                </a:solidFill>
              </a:defRPr>
            </a:pPr>
            <a:r>
              <a:rPr sz="1650" b="1">
                <a:solidFill>
                  <a:srgbClr val="B91C1C"/>
                </a:solidFill>
              </a:rPr>
              <a:t>Restricted source layer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E8936D-0299-415E-89AA-74CA8B38B2EE}"/>
              </a:ext>
            </a:extLst>
          </p:cNvPr>
          <p:cNvSpPr>
            <a:spLocks noGrp="1"/>
          </p:cNvSpPr>
          <p:nvPr/>
        </p:nvSpPr>
        <p:spPr>
          <a:xfrm>
            <a:off x="923925" y="2647950"/>
            <a:ext cx="28194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Stores source references needed for PrimeRx lookup and reconciliation, including RxNo, RefillNo, tenant, and pharmacy identifiers.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B93E233-CBD8-481B-B06D-198C698B7207}"/>
              </a:ext>
            </a:extLst>
          </p:cNvPr>
          <p:cNvSpPr>
            <a:spLocks noGrp="1"/>
          </p:cNvSpPr>
          <p:nvPr/>
        </p:nvSpPr>
        <p:spPr>
          <a:xfrm>
            <a:off x="4476750" y="2095500"/>
            <a:ext cx="3238500" cy="2190750"/>
          </a:xfrm>
          <a:prstGeom prst="roundRect">
            <a:avLst>
              <a:gd name="adj" fmla="val 3478"/>
            </a:avLst>
          </a:prstGeom>
          <a:solidFill>
            <a:srgbClr val="DCFCE7"/>
          </a:solidFill>
          <a:ln w="9525">
            <a:solidFill>
              <a:srgbClr val="86EFA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D4FA11-2C4A-4CE2-AF59-032AD90499AB}"/>
              </a:ext>
            </a:extLst>
          </p:cNvPr>
          <p:cNvSpPr>
            <a:spLocks noGrp="1"/>
          </p:cNvSpPr>
          <p:nvPr/>
        </p:nvSpPr>
        <p:spPr>
          <a:xfrm>
            <a:off x="4686300" y="22669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5803D"/>
                </a:solidFill>
              </a:defRPr>
            </a:pPr>
            <a:r>
              <a:rPr sz="1650" b="1">
                <a:solidFill>
                  <a:srgbClr val="15803D"/>
                </a:solidFill>
              </a:rPr>
              <a:t>Minimized dashboard layer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3AF0F9-A9BF-44E8-BF23-4F66DFACF333}"/>
              </a:ext>
            </a:extLst>
          </p:cNvPr>
          <p:cNvSpPr>
            <a:spLocks noGrp="1"/>
          </p:cNvSpPr>
          <p:nvPr/>
        </p:nvSpPr>
        <p:spPr>
          <a:xfrm>
            <a:off x="4686300" y="2647950"/>
            <a:ext cx="28194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Uses prescription and refill tokens, payer/drug/store facts, dates, amounts, statuses, and KPI-ready metrics.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C31C9D-5B04-4234-9EC2-F31FE30A5D8D}"/>
              </a:ext>
            </a:extLst>
          </p:cNvPr>
          <p:cNvSpPr>
            <a:spLocks noGrp="1"/>
          </p:cNvSpPr>
          <p:nvPr/>
        </p:nvSpPr>
        <p:spPr>
          <a:xfrm>
            <a:off x="8239125" y="2095500"/>
            <a:ext cx="3238500" cy="2190750"/>
          </a:xfrm>
          <a:prstGeom prst="roundRect">
            <a:avLst>
              <a:gd name="adj" fmla="val 3478"/>
            </a:avLst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653B33-DEF3-4FEF-907E-738A2B1BCA25}"/>
              </a:ext>
            </a:extLst>
          </p:cNvPr>
          <p:cNvSpPr>
            <a:spLocks noGrp="1"/>
          </p:cNvSpPr>
          <p:nvPr/>
        </p:nvSpPr>
        <p:spPr>
          <a:xfrm>
            <a:off x="8448675" y="22669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Role-based dashboards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D30E49-CEFE-44D7-B8DD-D2D91E83D111}"/>
              </a:ext>
            </a:extLst>
          </p:cNvPr>
          <p:cNvSpPr>
            <a:spLocks noGrp="1"/>
          </p:cNvSpPr>
          <p:nvPr/>
        </p:nvSpPr>
        <p:spPr>
          <a:xfrm>
            <a:off x="8448675" y="2647950"/>
            <a:ext cx="28194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Owners, managers, finance, compliance, and operations teams see only the data needed for their role.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6C11A2-82A6-4464-8DFD-13D999D779F4}"/>
              </a:ext>
            </a:extLst>
          </p:cNvPr>
          <p:cNvSpPr>
            <a:spLocks noGrp="1"/>
          </p:cNvSpPr>
          <p:nvPr/>
        </p:nvSpPr>
        <p:spPr>
          <a:xfrm>
            <a:off x="857250" y="50482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Direct identifiers such as patient name, address, phone, DOB, notes, images, and broad access to original RX numbers are excluded from dashboard views.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4D1731-C357-400F-B503-71A3E214FD08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AnalyticalRx client planning deck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F1AA1A-316D-4066-B581-9C2879D88E1C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5527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5445540-AF25-4D00-BCDE-1C4FA379F597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857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Phase 1 delivers integration and starter dashboards.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4979E9-C681-47B8-9EC6-2A9C619D4DC9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111252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9140164-9C79-4597-AF0C-579FF5C68B0A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3190875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56640D-12C3-4E4F-B094-EA750E08BA6B}"/>
              </a:ext>
            </a:extLst>
          </p:cNvPr>
          <p:cNvSpPr>
            <a:spLocks noGrp="1"/>
          </p:cNvSpPr>
          <p:nvPr/>
        </p:nvSpPr>
        <p:spPr>
          <a:xfrm>
            <a:off x="876300" y="2124075"/>
            <a:ext cx="27717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PrimeRx access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82C742-9AF7-423D-9AA5-2FF33BE87C44}"/>
              </a:ext>
            </a:extLst>
          </p:cNvPr>
          <p:cNvSpPr>
            <a:spLocks noGrp="1"/>
          </p:cNvSpPr>
          <p:nvPr/>
        </p:nvSpPr>
        <p:spPr>
          <a:xfrm>
            <a:off x="876300" y="2505075"/>
            <a:ext cx="27717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Confirm API, webhook, and SFTP setup details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F1BAA55-67A4-4817-87F1-5EB54C6DE3D5}"/>
              </a:ext>
            </a:extLst>
          </p:cNvPr>
          <p:cNvSpPr>
            <a:spLocks noGrp="1"/>
          </p:cNvSpPr>
          <p:nvPr/>
        </p:nvSpPr>
        <p:spPr>
          <a:xfrm>
            <a:off x="4381500" y="1952625"/>
            <a:ext cx="3190875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7CEDB7-A298-4BCC-9F6E-8E3B3B41ED0A}"/>
              </a:ext>
            </a:extLst>
          </p:cNvPr>
          <p:cNvSpPr>
            <a:spLocks noGrp="1"/>
          </p:cNvSpPr>
          <p:nvPr/>
        </p:nvSpPr>
        <p:spPr>
          <a:xfrm>
            <a:off x="4591050" y="2124075"/>
            <a:ext cx="27717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Webhook pipeline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23A0F5-C7F6-4225-A899-9CF2C5187A98}"/>
              </a:ext>
            </a:extLst>
          </p:cNvPr>
          <p:cNvSpPr>
            <a:spLocks noGrp="1"/>
          </p:cNvSpPr>
          <p:nvPr/>
        </p:nvSpPr>
        <p:spPr>
          <a:xfrm>
            <a:off x="4591050" y="2505075"/>
            <a:ext cx="27717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Receive events and keep an auditable processing trail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61E4495-5283-4588-B077-E27D7F6A57CD}"/>
              </a:ext>
            </a:extLst>
          </p:cNvPr>
          <p:cNvSpPr>
            <a:spLocks noGrp="1"/>
          </p:cNvSpPr>
          <p:nvPr/>
        </p:nvSpPr>
        <p:spPr>
          <a:xfrm>
            <a:off x="8096250" y="1952625"/>
            <a:ext cx="3190875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835144-E37C-4149-ABB8-2EF0B0A690B6}"/>
              </a:ext>
            </a:extLst>
          </p:cNvPr>
          <p:cNvSpPr>
            <a:spLocks noGrp="1"/>
          </p:cNvSpPr>
          <p:nvPr/>
        </p:nvSpPr>
        <p:spPr>
          <a:xfrm>
            <a:off x="8305800" y="2124075"/>
            <a:ext cx="27717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SFTP specification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525026-446A-4239-8B4D-6ED714FA753E}"/>
              </a:ext>
            </a:extLst>
          </p:cNvPr>
          <p:cNvSpPr>
            <a:spLocks noGrp="1"/>
          </p:cNvSpPr>
          <p:nvPr/>
        </p:nvSpPr>
        <p:spPr>
          <a:xfrm>
            <a:off x="8305800" y="2505075"/>
            <a:ext cx="27717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Define daily and historical feed requirements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8AFA25B-F17E-4F93-AC85-2FB2810395C5}"/>
              </a:ext>
            </a:extLst>
          </p:cNvPr>
          <p:cNvSpPr>
            <a:spLocks noGrp="1"/>
          </p:cNvSpPr>
          <p:nvPr/>
        </p:nvSpPr>
        <p:spPr>
          <a:xfrm>
            <a:off x="666750" y="3571875"/>
            <a:ext cx="3190875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265EBD-9746-4E94-A951-9DAD5E7961A4}"/>
              </a:ext>
            </a:extLst>
          </p:cNvPr>
          <p:cNvSpPr>
            <a:spLocks noGrp="1"/>
          </p:cNvSpPr>
          <p:nvPr/>
        </p:nvSpPr>
        <p:spPr>
          <a:xfrm>
            <a:off x="876300" y="3743325"/>
            <a:ext cx="27717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Safe storage 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8B9619-4C3A-4CC7-BBBF-2878FF0C9612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27717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Separate source references from dashboard records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EF01932-E492-4AD7-BB78-47AAB8C49969}"/>
              </a:ext>
            </a:extLst>
          </p:cNvPr>
          <p:cNvSpPr>
            <a:spLocks noGrp="1"/>
          </p:cNvSpPr>
          <p:nvPr/>
        </p:nvSpPr>
        <p:spPr>
          <a:xfrm>
            <a:off x="4381500" y="3571875"/>
            <a:ext cx="3190875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903A25-71FA-4142-881C-79DEE133568B}"/>
              </a:ext>
            </a:extLst>
          </p:cNvPr>
          <p:cNvSpPr>
            <a:spLocks noGrp="1"/>
          </p:cNvSpPr>
          <p:nvPr/>
        </p:nvSpPr>
        <p:spPr>
          <a:xfrm>
            <a:off x="4591050" y="3743325"/>
            <a:ext cx="27717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Starter dashboards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C8BAFA-2197-402F-8859-9509109877CC}"/>
              </a:ext>
            </a:extLst>
          </p:cNvPr>
          <p:cNvSpPr>
            <a:spLocks noGrp="1"/>
          </p:cNvSpPr>
          <p:nvPr/>
        </p:nvSpPr>
        <p:spPr>
          <a:xfrm>
            <a:off x="4591050" y="4124325"/>
            <a:ext cx="27717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Owner overview, store comparison, payer/drug views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346593F-B383-4E06-B7C1-FC210323E8A0}"/>
              </a:ext>
            </a:extLst>
          </p:cNvPr>
          <p:cNvSpPr>
            <a:spLocks noGrp="1"/>
          </p:cNvSpPr>
          <p:nvPr/>
        </p:nvSpPr>
        <p:spPr>
          <a:xfrm>
            <a:off x="8096250" y="3571875"/>
            <a:ext cx="3190875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69B853-D5E7-49FC-A48D-34A8D213EC46}"/>
              </a:ext>
            </a:extLst>
          </p:cNvPr>
          <p:cNvSpPr>
            <a:spLocks noGrp="1"/>
          </p:cNvSpPr>
          <p:nvPr/>
        </p:nvSpPr>
        <p:spPr>
          <a:xfrm>
            <a:off x="8305800" y="3743325"/>
            <a:ext cx="27717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Data quality view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B14E44-40F8-4304-AA88-835C7714FB5F}"/>
              </a:ext>
            </a:extLst>
          </p:cNvPr>
          <p:cNvSpPr>
            <a:spLocks noGrp="1"/>
          </p:cNvSpPr>
          <p:nvPr/>
        </p:nvSpPr>
        <p:spPr>
          <a:xfrm>
            <a:off x="8305800" y="4124325"/>
            <a:ext cx="27717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Show import status, missing fields, and exceptions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88B973-DA6E-49F0-8714-1EFC70EC29B5}"/>
              </a:ext>
            </a:extLst>
          </p:cNvPr>
          <p:cNvSpPr>
            <a:spLocks noGrp="1"/>
          </p:cNvSpPr>
          <p:nvPr/>
        </p:nvSpPr>
        <p:spPr>
          <a:xfrm>
            <a:off x="781050" y="54292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Phase 1 commitment: reliable data ingestion, PrimeRx integration, and starter dashboards without advanced analytics.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2F1803-A997-48AF-9326-843BC0EEEDC7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AnalyticalRx client planning deck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DD5260-51A9-446F-A1F9-6428CB8DFB7D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6762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D7DF236-0E97-4936-BF7E-1917F50140A4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857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Phase 2 adds analytics and insights inside the dashboards.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8B7EF4-1FA4-46D2-A47C-B050A434DFB3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111252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68E86B-B33F-495D-9871-096E85855369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1066800" cy="40005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B80504-A1C6-4B35-AD96-268AF4B49653}"/>
              </a:ext>
            </a:extLst>
          </p:cNvPr>
          <p:cNvSpPr>
            <a:spLocks noGrp="1"/>
          </p:cNvSpPr>
          <p:nvPr/>
        </p:nvSpPr>
        <p:spPr>
          <a:xfrm>
            <a:off x="742950" y="18954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2.1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D8924F-D2E0-4A17-A114-E36A247EB627}"/>
              </a:ext>
            </a:extLst>
          </p:cNvPr>
          <p:cNvSpPr>
            <a:spLocks noGrp="1"/>
          </p:cNvSpPr>
          <p:nvPr/>
        </p:nvSpPr>
        <p:spPr>
          <a:xfrm>
            <a:off x="2095500" y="18478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Trend insights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D9F468-A586-4E1C-B9BB-809DE6D6909F}"/>
              </a:ext>
            </a:extLst>
          </p:cNvPr>
          <p:cNvSpPr>
            <a:spLocks noGrp="1"/>
          </p:cNvSpPr>
          <p:nvPr/>
        </p:nvSpPr>
        <p:spPr>
          <a:xfrm>
            <a:off x="4857750" y="18859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Show where volume, revenue, and margin are changing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318E5F-9D6D-478D-B063-7A72D99F40A1}"/>
              </a:ext>
            </a:extLst>
          </p:cNvPr>
          <p:cNvSpPr>
            <a:spLocks noGrp="1"/>
          </p:cNvSpPr>
          <p:nvPr/>
        </p:nvSpPr>
        <p:spPr>
          <a:xfrm>
            <a:off x="2095500" y="2324100"/>
            <a:ext cx="8763000" cy="14288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7DA3240-F7C7-4591-9FF9-CA148E1195A3}"/>
              </a:ext>
            </a:extLst>
          </p:cNvPr>
          <p:cNvSpPr>
            <a:spLocks noGrp="1"/>
          </p:cNvSpPr>
          <p:nvPr/>
        </p:nvSpPr>
        <p:spPr>
          <a:xfrm>
            <a:off x="742950" y="2552700"/>
            <a:ext cx="1066800" cy="40005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05B8F5-381F-474B-BD4C-57BCC85E2593}"/>
              </a:ext>
            </a:extLst>
          </p:cNvPr>
          <p:cNvSpPr>
            <a:spLocks noGrp="1"/>
          </p:cNvSpPr>
          <p:nvPr/>
        </p:nvSpPr>
        <p:spPr>
          <a:xfrm>
            <a:off x="742950" y="263842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2.2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874620-8C09-4525-BA99-5982563430EE}"/>
              </a:ext>
            </a:extLst>
          </p:cNvPr>
          <p:cNvSpPr>
            <a:spLocks noGrp="1"/>
          </p:cNvSpPr>
          <p:nvPr/>
        </p:nvSpPr>
        <p:spPr>
          <a:xfrm>
            <a:off x="2095500" y="2590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Payer insights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C7DA16-DA3C-4E1C-A656-7F3B90321B93}"/>
              </a:ext>
            </a:extLst>
          </p:cNvPr>
          <p:cNvSpPr>
            <a:spLocks noGrp="1"/>
          </p:cNvSpPr>
          <p:nvPr/>
        </p:nvSpPr>
        <p:spPr>
          <a:xfrm>
            <a:off x="4857750" y="262890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Explain which plans affect reimbursement and rejection trends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AF8B7D-4880-4F37-ACBE-D7EB3CC4BF6F}"/>
              </a:ext>
            </a:extLst>
          </p:cNvPr>
          <p:cNvSpPr>
            <a:spLocks noGrp="1"/>
          </p:cNvSpPr>
          <p:nvPr/>
        </p:nvSpPr>
        <p:spPr>
          <a:xfrm>
            <a:off x="2095500" y="3067050"/>
            <a:ext cx="8763000" cy="14288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BADE179-5B01-459E-8434-11AD9A127FE4}"/>
              </a:ext>
            </a:extLst>
          </p:cNvPr>
          <p:cNvSpPr>
            <a:spLocks noGrp="1"/>
          </p:cNvSpPr>
          <p:nvPr/>
        </p:nvSpPr>
        <p:spPr>
          <a:xfrm>
            <a:off x="742950" y="3295650"/>
            <a:ext cx="1066800" cy="40005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8E2E45-7F76-4895-BE47-25E78E7C8095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2.3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C5D54B-A751-4E4C-8591-B1F433FB52F5}"/>
              </a:ext>
            </a:extLst>
          </p:cNvPr>
          <p:cNvSpPr>
            <a:spLocks noGrp="1"/>
          </p:cNvSpPr>
          <p:nvPr/>
        </p:nvSpPr>
        <p:spPr>
          <a:xfrm>
            <a:off x="2095500" y="33337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Drug insights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6F74E0-296C-487E-B28B-91105C49EAD0}"/>
              </a:ext>
            </a:extLst>
          </p:cNvPr>
          <p:cNvSpPr>
            <a:spLocks noGrp="1"/>
          </p:cNvSpPr>
          <p:nvPr/>
        </p:nvSpPr>
        <p:spPr>
          <a:xfrm>
            <a:off x="4857750" y="33718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Highlight negative-margin and high-margin fills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E7608C-9583-45E0-90EA-6906164C6F05}"/>
              </a:ext>
            </a:extLst>
          </p:cNvPr>
          <p:cNvSpPr>
            <a:spLocks noGrp="1"/>
          </p:cNvSpPr>
          <p:nvPr/>
        </p:nvSpPr>
        <p:spPr>
          <a:xfrm>
            <a:off x="2095500" y="3810000"/>
            <a:ext cx="8763000" cy="14288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8782585-9CB6-4369-A1C5-0498B7E7F1AF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1066800" cy="40005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C06C3C-3384-4DC1-8D6A-F7CDECCAA7E0}"/>
              </a:ext>
            </a:extLst>
          </p:cNvPr>
          <p:cNvSpPr>
            <a:spLocks noGrp="1"/>
          </p:cNvSpPr>
          <p:nvPr/>
        </p:nvSpPr>
        <p:spPr>
          <a:xfrm>
            <a:off x="742950" y="412432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2.4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D26F06-AEE3-48FC-B6D8-73A3EC4CA33F}"/>
              </a:ext>
            </a:extLst>
          </p:cNvPr>
          <p:cNvSpPr>
            <a:spLocks noGrp="1"/>
          </p:cNvSpPr>
          <p:nvPr/>
        </p:nvSpPr>
        <p:spPr>
          <a:xfrm>
            <a:off x="2095500" y="4076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Doctor relations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569A7C-DDBB-4477-9BFC-A563158E231D}"/>
              </a:ext>
            </a:extLst>
          </p:cNvPr>
          <p:cNvSpPr>
            <a:spLocks noGrp="1"/>
          </p:cNvSpPr>
          <p:nvPr/>
        </p:nvSpPr>
        <p:spPr>
          <a:xfrm>
            <a:off x="4857750" y="411480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Connect referral activity to prescription trends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7C93D8-5805-40FC-9CA1-634F9D811856}"/>
              </a:ext>
            </a:extLst>
          </p:cNvPr>
          <p:cNvSpPr>
            <a:spLocks noGrp="1"/>
          </p:cNvSpPr>
          <p:nvPr/>
        </p:nvSpPr>
        <p:spPr>
          <a:xfrm>
            <a:off x="2095500" y="4552950"/>
            <a:ext cx="8763000" cy="14288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A6B48D9-AD59-430F-9155-208033C1F923}"/>
              </a:ext>
            </a:extLst>
          </p:cNvPr>
          <p:cNvSpPr>
            <a:spLocks noGrp="1"/>
          </p:cNvSpPr>
          <p:nvPr/>
        </p:nvSpPr>
        <p:spPr>
          <a:xfrm>
            <a:off x="742950" y="4781550"/>
            <a:ext cx="1066800" cy="40005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8E4B17-3A59-4392-B591-6624A50873EF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2.5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FA20B7-8F9E-431C-90C7-36F2DD4027EE}"/>
              </a:ext>
            </a:extLst>
          </p:cNvPr>
          <p:cNvSpPr>
            <a:spLocks noGrp="1"/>
          </p:cNvSpPr>
          <p:nvPr/>
        </p:nvSpPr>
        <p:spPr>
          <a:xfrm>
            <a:off x="2095500" y="48196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Action guidance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B85BC8-1974-4BA3-B675-E76EB61E85FC}"/>
              </a:ext>
            </a:extLst>
          </p:cNvPr>
          <p:cNvSpPr>
            <a:spLocks noGrp="1"/>
          </p:cNvSpPr>
          <p:nvPr/>
        </p:nvSpPr>
        <p:spPr>
          <a:xfrm>
            <a:off x="4857750" y="48577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Surface follow-up areas inside each role dashboard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6B2FE8-5A7F-40D5-A799-E837EAA40EE0}"/>
              </a:ext>
            </a:extLst>
          </p:cNvPr>
          <p:cNvSpPr>
            <a:spLocks noGrp="1"/>
          </p:cNvSpPr>
          <p:nvPr/>
        </p:nvSpPr>
        <p:spPr>
          <a:xfrm>
            <a:off x="2095500" y="5295900"/>
            <a:ext cx="8763000" cy="14288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088173-D31B-456B-9F55-BD30F682827D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AnalyticalRx client planning deck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1BC452-F0DC-4E43-9EFD-A1A0958664BB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08735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619F40D-5B8F-4534-B0C2-A86410C3D717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857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Dashboard coverage follows the roles in the requirements brief.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8E444D-7C68-4AA3-BD60-9F86689645BF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111252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1E4B634-8D29-48F7-80BE-B2F1108837F7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4762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8EF803-9236-4985-A142-6512C0996D9F}"/>
              </a:ext>
            </a:extLst>
          </p:cNvPr>
          <p:cNvSpPr>
            <a:spLocks noGrp="1"/>
          </p:cNvSpPr>
          <p:nvPr/>
        </p:nvSpPr>
        <p:spPr>
          <a:xfrm>
            <a:off x="914400" y="19050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Owner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5AB0FC-EB50-4B51-BAD2-9251F830A3B1}"/>
              </a:ext>
            </a:extLst>
          </p:cNvPr>
          <p:cNvSpPr>
            <a:spLocks noGrp="1"/>
          </p:cNvSpPr>
          <p:nvPr/>
        </p:nvSpPr>
        <p:spPr>
          <a:xfrm>
            <a:off x="2343150" y="19240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Company KPIs, store ranking, payer mix, drug margin view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128EB90-2160-4D18-BC13-3F9214E4DA59}"/>
              </a:ext>
            </a:extLst>
          </p:cNvPr>
          <p:cNvSpPr>
            <a:spLocks noGrp="1"/>
          </p:cNvSpPr>
          <p:nvPr/>
        </p:nvSpPr>
        <p:spPr>
          <a:xfrm>
            <a:off x="6153150" y="1752600"/>
            <a:ext cx="4762500" cy="91440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055950-38C8-4A70-B7A8-075540C15F3D}"/>
              </a:ext>
            </a:extLst>
          </p:cNvPr>
          <p:cNvSpPr>
            <a:spLocks noGrp="1"/>
          </p:cNvSpPr>
          <p:nvPr/>
        </p:nvSpPr>
        <p:spPr>
          <a:xfrm>
            <a:off x="6343650" y="19050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Store manager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66B3A1-BBC5-40E0-BC87-87D7838350CF}"/>
              </a:ext>
            </a:extLst>
          </p:cNvPr>
          <p:cNvSpPr>
            <a:spLocks noGrp="1"/>
          </p:cNvSpPr>
          <p:nvPr/>
        </p:nvSpPr>
        <p:spPr>
          <a:xfrm>
            <a:off x="7772400" y="19240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RX queues, targets, rejections, negative-margin claims, tasks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3B55A6-57F9-4DF1-B88C-C4087586E6B6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4762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535947-45C7-4B04-8749-5F65DA1C671F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Finance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4803F7-06F8-4EFD-B750-DD4C3942F262}"/>
              </a:ext>
            </a:extLst>
          </p:cNvPr>
          <p:cNvSpPr>
            <a:spLocks noGrp="1"/>
          </p:cNvSpPr>
          <p:nvPr/>
        </p:nvSpPr>
        <p:spPr>
          <a:xfrm>
            <a:off x="2343150" y="31432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Revenue, deposits, receivables, costs, monthly close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7B1DF3F-9BBB-4970-BACE-9EB34EFDCF57}"/>
              </a:ext>
            </a:extLst>
          </p:cNvPr>
          <p:cNvSpPr>
            <a:spLocks noGrp="1"/>
          </p:cNvSpPr>
          <p:nvPr/>
        </p:nvSpPr>
        <p:spPr>
          <a:xfrm>
            <a:off x="6153150" y="2971800"/>
            <a:ext cx="4762500" cy="91440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FEACE9-8129-462C-8496-39B8C6586F00}"/>
              </a:ext>
            </a:extLst>
          </p:cNvPr>
          <p:cNvSpPr>
            <a:spLocks noGrp="1"/>
          </p:cNvSpPr>
          <p:nvPr/>
        </p:nvSpPr>
        <p:spPr>
          <a:xfrm>
            <a:off x="6343650" y="31242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Compliance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F8CF7F-05C4-47C4-ACFF-AF98BDAE4BAC}"/>
              </a:ext>
            </a:extLst>
          </p:cNvPr>
          <p:cNvSpPr>
            <a:spLocks noGrp="1"/>
          </p:cNvSpPr>
          <p:nvPr/>
        </p:nvSpPr>
        <p:spPr>
          <a:xfrm>
            <a:off x="7772400" y="31432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Licenses, documents, expirations, reminders, audit history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9708555-79E0-4353-A588-43B3D0B74F54}"/>
              </a:ext>
            </a:extLst>
          </p:cNvPr>
          <p:cNvSpPr>
            <a:spLocks noGrp="1"/>
          </p:cNvSpPr>
          <p:nvPr/>
        </p:nvSpPr>
        <p:spPr>
          <a:xfrm>
            <a:off x="723900" y="4191000"/>
            <a:ext cx="4762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9F6875-2A8E-4C58-A057-6C002DCEF1AC}"/>
              </a:ext>
            </a:extLst>
          </p:cNvPr>
          <p:cNvSpPr>
            <a:spLocks noGrp="1"/>
          </p:cNvSpPr>
          <p:nvPr/>
        </p:nvSpPr>
        <p:spPr>
          <a:xfrm>
            <a:off x="914400" y="43434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Doctor relations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2A43CF-DE4A-4A84-BC83-C4E8E4B28D24}"/>
              </a:ext>
            </a:extLst>
          </p:cNvPr>
          <p:cNvSpPr>
            <a:spLocks noGrp="1"/>
          </p:cNvSpPr>
          <p:nvPr/>
        </p:nvSpPr>
        <p:spPr>
          <a:xfrm>
            <a:off x="2343150" y="43624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Visits, referral outcomes, revenue impact, follow-ups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829FC1E-7446-41BF-A4D1-169DC2988C29}"/>
              </a:ext>
            </a:extLst>
          </p:cNvPr>
          <p:cNvSpPr>
            <a:spLocks noGrp="1"/>
          </p:cNvSpPr>
          <p:nvPr/>
        </p:nvSpPr>
        <p:spPr>
          <a:xfrm>
            <a:off x="6153150" y="4191000"/>
            <a:ext cx="4762500" cy="91440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D32B4F-4AE0-4E0F-8482-15526CDC32D1}"/>
              </a:ext>
            </a:extLst>
          </p:cNvPr>
          <p:cNvSpPr>
            <a:spLocks noGrp="1"/>
          </p:cNvSpPr>
          <p:nvPr/>
        </p:nvSpPr>
        <p:spPr>
          <a:xfrm>
            <a:off x="6343650" y="43434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Operations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FEFB9B-D58A-44BB-B114-872D4EA67AF4}"/>
              </a:ext>
            </a:extLst>
          </p:cNvPr>
          <p:cNvSpPr>
            <a:spLocks noGrp="1"/>
          </p:cNvSpPr>
          <p:nvPr/>
        </p:nvSpPr>
        <p:spPr>
          <a:xfrm>
            <a:off x="7772400" y="436245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Task status, priorities, overdue work, assigned owners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F44041-9B8C-45DB-BD47-43F7A189375F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AnalyticalRx client planning deck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19D297-A581-4683-9ACD-67B703F710AA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502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8BB25E02-80B1-4B60-8332-AE3CA2820ADA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857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Owner view: starter dashboard for performance visibility.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3D4E9D-1C7E-495F-A2C4-0E404ED103A1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111252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6BE8FB-F748-4E42-959E-51D900E7F7B2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1095375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D61C72-594E-47C6-ACED-E3F79EDF7F14}"/>
              </a:ext>
            </a:extLst>
          </p:cNvPr>
          <p:cNvSpPr>
            <a:spLocks noGrp="1"/>
          </p:cNvSpPr>
          <p:nvPr/>
        </p:nvSpPr>
        <p:spPr>
          <a:xfrm>
            <a:off x="904875" y="18478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Owner Overview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E8A8F54-4F0D-4139-AC10-16B78BECE7B2}"/>
              </a:ext>
            </a:extLst>
          </p:cNvPr>
          <p:cNvSpPr>
            <a:spLocks noGrp="1"/>
          </p:cNvSpPr>
          <p:nvPr/>
        </p:nvSpPr>
        <p:spPr>
          <a:xfrm>
            <a:off x="904875" y="2381250"/>
            <a:ext cx="157162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7BB4A0-A52A-4BF0-8456-B8EAF152EF3B}"/>
              </a:ext>
            </a:extLst>
          </p:cNvPr>
          <p:cNvSpPr>
            <a:spLocks noGrp="1"/>
          </p:cNvSpPr>
          <p:nvPr/>
        </p:nvSpPr>
        <p:spPr>
          <a:xfrm>
            <a:off x="1076325" y="2514600"/>
            <a:ext cx="1228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B91C1C"/>
                </a:solidFill>
              </a:defRPr>
            </a:pPr>
            <a:r>
              <a:rPr sz="1950" b="1">
                <a:solidFill>
                  <a:srgbClr val="B91C1C"/>
                </a:solidFill>
              </a:rPr>
              <a:t>↓ 4.2%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FF1C84-9F1D-4956-A892-05759D601995}"/>
              </a:ext>
            </a:extLst>
          </p:cNvPr>
          <p:cNvSpPr>
            <a:spLocks noGrp="1"/>
          </p:cNvSpPr>
          <p:nvPr/>
        </p:nvSpPr>
        <p:spPr>
          <a:xfrm>
            <a:off x="1076325" y="2857500"/>
            <a:ext cx="12287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RX volume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1B083E6-BD46-478E-B9BB-086DFDCC999D}"/>
              </a:ext>
            </a:extLst>
          </p:cNvPr>
          <p:cNvSpPr>
            <a:spLocks noGrp="1"/>
          </p:cNvSpPr>
          <p:nvPr/>
        </p:nvSpPr>
        <p:spPr>
          <a:xfrm>
            <a:off x="2667000" y="2381250"/>
            <a:ext cx="157162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A06134-6825-4387-A1C4-C257EE8E5494}"/>
              </a:ext>
            </a:extLst>
          </p:cNvPr>
          <p:cNvSpPr>
            <a:spLocks noGrp="1"/>
          </p:cNvSpPr>
          <p:nvPr/>
        </p:nvSpPr>
        <p:spPr>
          <a:xfrm>
            <a:off x="2838450" y="2514600"/>
            <a:ext cx="1228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$ —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B55641-B59A-4E72-B52F-C9E776A97364}"/>
              </a:ext>
            </a:extLst>
          </p:cNvPr>
          <p:cNvSpPr>
            <a:spLocks noGrp="1"/>
          </p:cNvSpPr>
          <p:nvPr/>
        </p:nvSpPr>
        <p:spPr>
          <a:xfrm>
            <a:off x="2838450" y="2857500"/>
            <a:ext cx="12287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Revenue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A7EFB15-A2CB-4EF6-ABAC-334929C84BAC}"/>
              </a:ext>
            </a:extLst>
          </p:cNvPr>
          <p:cNvSpPr>
            <a:spLocks noGrp="1"/>
          </p:cNvSpPr>
          <p:nvPr/>
        </p:nvSpPr>
        <p:spPr>
          <a:xfrm>
            <a:off x="4429125" y="2381250"/>
            <a:ext cx="157162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58D7B8-4464-442F-B415-B1EAC6B2B92C}"/>
              </a:ext>
            </a:extLst>
          </p:cNvPr>
          <p:cNvSpPr>
            <a:spLocks noGrp="1"/>
          </p:cNvSpPr>
          <p:nvPr/>
        </p:nvSpPr>
        <p:spPr>
          <a:xfrm>
            <a:off x="4600575" y="2514600"/>
            <a:ext cx="1228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$ —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FA2A1D-CE9F-4BDD-8565-5E65B228D79E}"/>
              </a:ext>
            </a:extLst>
          </p:cNvPr>
          <p:cNvSpPr>
            <a:spLocks noGrp="1"/>
          </p:cNvSpPr>
          <p:nvPr/>
        </p:nvSpPr>
        <p:spPr>
          <a:xfrm>
            <a:off x="4600575" y="2857500"/>
            <a:ext cx="12287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Gross profit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14FC999-B69E-417E-AF35-99088D52EDAE}"/>
              </a:ext>
            </a:extLst>
          </p:cNvPr>
          <p:cNvSpPr>
            <a:spLocks noGrp="1"/>
          </p:cNvSpPr>
          <p:nvPr/>
        </p:nvSpPr>
        <p:spPr>
          <a:xfrm>
            <a:off x="6191250" y="2381250"/>
            <a:ext cx="157162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6B82BE-865E-461A-A9C6-6006F02601A6}"/>
              </a:ext>
            </a:extLst>
          </p:cNvPr>
          <p:cNvSpPr>
            <a:spLocks noGrp="1"/>
          </p:cNvSpPr>
          <p:nvPr/>
        </p:nvSpPr>
        <p:spPr>
          <a:xfrm>
            <a:off x="6362700" y="2514600"/>
            <a:ext cx="1228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$ —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D71413-9F1C-4A76-AA8B-0BD194C479BA}"/>
              </a:ext>
            </a:extLst>
          </p:cNvPr>
          <p:cNvSpPr>
            <a:spLocks noGrp="1"/>
          </p:cNvSpPr>
          <p:nvPr/>
        </p:nvSpPr>
        <p:spPr>
          <a:xfrm>
            <a:off x="6362700" y="2857500"/>
            <a:ext cx="12287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Avg profit / RX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DAD7A28-2858-4A9B-A8BA-C79300B699E0}"/>
              </a:ext>
            </a:extLst>
          </p:cNvPr>
          <p:cNvSpPr>
            <a:spLocks noGrp="1"/>
          </p:cNvSpPr>
          <p:nvPr/>
        </p:nvSpPr>
        <p:spPr>
          <a:xfrm>
            <a:off x="8096250" y="2333625"/>
            <a:ext cx="2952750" cy="142875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16C8E9-2DE0-462C-ADF3-F82608AAC7D9}"/>
              </a:ext>
            </a:extLst>
          </p:cNvPr>
          <p:cNvSpPr>
            <a:spLocks noGrp="1"/>
          </p:cNvSpPr>
          <p:nvPr/>
        </p:nvSpPr>
        <p:spPr>
          <a:xfrm>
            <a:off x="8334375" y="252412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Needs review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663C49-B359-4183-8100-612208B1D60E}"/>
              </a:ext>
            </a:extLst>
          </p:cNvPr>
          <p:cNvSpPr>
            <a:spLocks noGrp="1"/>
          </p:cNvSpPr>
          <p:nvPr/>
        </p:nvSpPr>
        <p:spPr>
          <a:xfrm>
            <a:off x="8334375" y="2905125"/>
            <a:ext cx="247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• Rejection queue up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• Deposits pending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• Low-margin fills flagged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9A5636-599C-43C7-BC5B-784467B390EF}"/>
              </a:ext>
            </a:extLst>
          </p:cNvPr>
          <p:cNvSpPr>
            <a:spLocks noGrp="1"/>
          </p:cNvSpPr>
          <p:nvPr/>
        </p:nvSpPr>
        <p:spPr>
          <a:xfrm>
            <a:off x="1000125" y="3857625"/>
            <a:ext cx="1476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Store A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28A8F7A-963C-4F0C-B01D-C81F163427FD}"/>
              </a:ext>
            </a:extLst>
          </p:cNvPr>
          <p:cNvSpPr>
            <a:spLocks noGrp="1"/>
          </p:cNvSpPr>
          <p:nvPr/>
        </p:nvSpPr>
        <p:spPr>
          <a:xfrm>
            <a:off x="2619375" y="3895725"/>
            <a:ext cx="2095500" cy="11430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5482604-D68C-4707-B32B-BAB033A9882F}"/>
              </a:ext>
            </a:extLst>
          </p:cNvPr>
          <p:cNvSpPr>
            <a:spLocks noGrp="1"/>
          </p:cNvSpPr>
          <p:nvPr/>
        </p:nvSpPr>
        <p:spPr>
          <a:xfrm>
            <a:off x="2619375" y="3895725"/>
            <a:ext cx="171450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4595D4-1B5F-4F6B-990D-9FE521BD6A1F}"/>
              </a:ext>
            </a:extLst>
          </p:cNvPr>
          <p:cNvSpPr>
            <a:spLocks noGrp="1"/>
          </p:cNvSpPr>
          <p:nvPr/>
        </p:nvSpPr>
        <p:spPr>
          <a:xfrm>
            <a:off x="1000125" y="4210050"/>
            <a:ext cx="1476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Store B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66F8F67-6905-42C4-8F99-2E00804A14C8}"/>
              </a:ext>
            </a:extLst>
          </p:cNvPr>
          <p:cNvSpPr>
            <a:spLocks noGrp="1"/>
          </p:cNvSpPr>
          <p:nvPr/>
        </p:nvSpPr>
        <p:spPr>
          <a:xfrm>
            <a:off x="2619375" y="4248150"/>
            <a:ext cx="2095500" cy="11430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86FF19B-BC53-406E-A612-1C22633EE76B}"/>
              </a:ext>
            </a:extLst>
          </p:cNvPr>
          <p:cNvSpPr>
            <a:spLocks noGrp="1"/>
          </p:cNvSpPr>
          <p:nvPr/>
        </p:nvSpPr>
        <p:spPr>
          <a:xfrm>
            <a:off x="2619375" y="4248150"/>
            <a:ext cx="120015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C557A1-CB94-414F-AF19-3552F8625A19}"/>
              </a:ext>
            </a:extLst>
          </p:cNvPr>
          <p:cNvSpPr>
            <a:spLocks noGrp="1"/>
          </p:cNvSpPr>
          <p:nvPr/>
        </p:nvSpPr>
        <p:spPr>
          <a:xfrm>
            <a:off x="1000125" y="4562475"/>
            <a:ext cx="1476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Store C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7B52FFC-99EB-401F-831D-5264EAD52B91}"/>
              </a:ext>
            </a:extLst>
          </p:cNvPr>
          <p:cNvSpPr>
            <a:spLocks noGrp="1"/>
          </p:cNvSpPr>
          <p:nvPr/>
        </p:nvSpPr>
        <p:spPr>
          <a:xfrm>
            <a:off x="2619375" y="4600575"/>
            <a:ext cx="2095500" cy="11430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D588EBB-9701-45F8-ACC9-27A87A367F63}"/>
              </a:ext>
            </a:extLst>
          </p:cNvPr>
          <p:cNvSpPr>
            <a:spLocks noGrp="1"/>
          </p:cNvSpPr>
          <p:nvPr/>
        </p:nvSpPr>
        <p:spPr>
          <a:xfrm>
            <a:off x="2619375" y="4600575"/>
            <a:ext cx="819150" cy="11430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31532B6-AC84-4EED-B480-6EC2445E6A3D}"/>
              </a:ext>
            </a:extLst>
          </p:cNvPr>
          <p:cNvSpPr>
            <a:spLocks noGrp="1"/>
          </p:cNvSpPr>
          <p:nvPr/>
        </p:nvSpPr>
        <p:spPr>
          <a:xfrm>
            <a:off x="5095875" y="3905250"/>
            <a:ext cx="5572125" cy="1028700"/>
          </a:xfrm>
          <a:prstGeom prst="roundRect">
            <a:avLst>
              <a:gd name="adj" fmla="val 7407"/>
            </a:avLst>
          </a:prstGeom>
          <a:solidFill>
            <a:srgbClr val="CCFBF1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0A90F3-62E2-47FF-A065-9AD2D71488AF}"/>
              </a:ext>
            </a:extLst>
          </p:cNvPr>
          <p:cNvSpPr>
            <a:spLocks noGrp="1"/>
          </p:cNvSpPr>
          <p:nvPr/>
        </p:nvSpPr>
        <p:spPr>
          <a:xfrm>
            <a:off x="5334000" y="40767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Phase 1 focus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7F7D7A-70F3-4C28-9BB4-5FDDDEA6AC69}"/>
              </a:ext>
            </a:extLst>
          </p:cNvPr>
          <p:cNvSpPr>
            <a:spLocks noGrp="1"/>
          </p:cNvSpPr>
          <p:nvPr/>
        </p:nvSpPr>
        <p:spPr>
          <a:xfrm>
            <a:off x="5334000" y="443865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Show the current numbers, queues, and exceptions clearly. Deeper explanations become Phase 2 insights.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CDCD62-F994-4D13-9C29-30855FA1A162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AnalyticalRx client planning deck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2A6A90-E790-426C-B5A5-35CCB19FB65B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4506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E261989-6004-40F2-8E92-354F0DD6A296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857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Payer and drug views answer simple business questions.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9D6799-7948-49BD-BA57-786A15380A3D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111252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3A340D-AD65-48DE-A87B-2490BEA0711B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5143500" cy="4048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00DD8-AAFC-423C-AC5D-A597D5727B4E}"/>
              </a:ext>
            </a:extLst>
          </p:cNvPr>
          <p:cNvSpPr>
            <a:spLocks noGrp="1"/>
          </p:cNvSpPr>
          <p:nvPr/>
        </p:nvSpPr>
        <p:spPr>
          <a:xfrm>
            <a:off x="952500" y="18859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Payer 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3F2297-3A8D-4FD2-863D-4117EDD1A6D4}"/>
              </a:ext>
            </a:extLst>
          </p:cNvPr>
          <p:cNvSpPr>
            <a:spLocks noGrp="1"/>
          </p:cNvSpPr>
          <p:nvPr/>
        </p:nvSpPr>
        <p:spPr>
          <a:xfrm>
            <a:off x="952500" y="2305050"/>
            <a:ext cx="419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Payer means the insurance plan, PBM, or program that pays or rejects a prescription claim.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20385B-044C-43B7-A2E5-5655C302436A}"/>
              </a:ext>
            </a:extLst>
          </p:cNvPr>
          <p:cNvSpPr>
            <a:spLocks noGrp="1"/>
          </p:cNvSpPr>
          <p:nvPr/>
        </p:nvSpPr>
        <p:spPr>
          <a:xfrm>
            <a:off x="1000125" y="3143250"/>
            <a:ext cx="1476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Plan A volume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2EEA768-D515-4D30-979A-31055BE73091}"/>
              </a:ext>
            </a:extLst>
          </p:cNvPr>
          <p:cNvSpPr>
            <a:spLocks noGrp="1"/>
          </p:cNvSpPr>
          <p:nvPr/>
        </p:nvSpPr>
        <p:spPr>
          <a:xfrm>
            <a:off x="2619375" y="3181350"/>
            <a:ext cx="2095500" cy="11430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EE58871-7CE1-4061-ABD4-388E10F958C7}"/>
              </a:ext>
            </a:extLst>
          </p:cNvPr>
          <p:cNvSpPr>
            <a:spLocks noGrp="1"/>
          </p:cNvSpPr>
          <p:nvPr/>
        </p:nvSpPr>
        <p:spPr>
          <a:xfrm>
            <a:off x="2619375" y="3181350"/>
            <a:ext cx="1952625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E39816-D5CA-4207-890E-561590E430C1}"/>
              </a:ext>
            </a:extLst>
          </p:cNvPr>
          <p:cNvSpPr>
            <a:spLocks noGrp="1"/>
          </p:cNvSpPr>
          <p:nvPr/>
        </p:nvSpPr>
        <p:spPr>
          <a:xfrm>
            <a:off x="1000125" y="3543300"/>
            <a:ext cx="1476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Plan B paid amount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B81EC22-0CA6-4B3D-AB13-26BBDB91ED7D}"/>
              </a:ext>
            </a:extLst>
          </p:cNvPr>
          <p:cNvSpPr>
            <a:spLocks noGrp="1"/>
          </p:cNvSpPr>
          <p:nvPr/>
        </p:nvSpPr>
        <p:spPr>
          <a:xfrm>
            <a:off x="2619375" y="3581400"/>
            <a:ext cx="2095500" cy="11430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033A434-05AB-4D28-BEE9-F57085D4D02A}"/>
              </a:ext>
            </a:extLst>
          </p:cNvPr>
          <p:cNvSpPr>
            <a:spLocks noGrp="1"/>
          </p:cNvSpPr>
          <p:nvPr/>
        </p:nvSpPr>
        <p:spPr>
          <a:xfrm>
            <a:off x="2619375" y="3581400"/>
            <a:ext cx="11430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A35CFC-5937-442E-B69F-D3956A38ED3E}"/>
              </a:ext>
            </a:extLst>
          </p:cNvPr>
          <p:cNvSpPr>
            <a:spLocks noGrp="1"/>
          </p:cNvSpPr>
          <p:nvPr/>
        </p:nvSpPr>
        <p:spPr>
          <a:xfrm>
            <a:off x="1000125" y="3943350"/>
            <a:ext cx="1476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Plan C rejections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D252807-28BF-403D-AC3D-6158CC7F7594}"/>
              </a:ext>
            </a:extLst>
          </p:cNvPr>
          <p:cNvSpPr>
            <a:spLocks noGrp="1"/>
          </p:cNvSpPr>
          <p:nvPr/>
        </p:nvSpPr>
        <p:spPr>
          <a:xfrm>
            <a:off x="2619375" y="3981450"/>
            <a:ext cx="2095500" cy="11430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537BE3D-E7C9-45F4-B9C3-2F7A4E604F5D}"/>
              </a:ext>
            </a:extLst>
          </p:cNvPr>
          <p:cNvSpPr>
            <a:spLocks noGrp="1"/>
          </p:cNvSpPr>
          <p:nvPr/>
        </p:nvSpPr>
        <p:spPr>
          <a:xfrm>
            <a:off x="2619375" y="3981450"/>
            <a:ext cx="685800" cy="11430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2E2FC8-6538-4117-8526-FC0E27AEB1F8}"/>
              </a:ext>
            </a:extLst>
          </p:cNvPr>
          <p:cNvSpPr>
            <a:spLocks noGrp="1"/>
          </p:cNvSpPr>
          <p:nvPr/>
        </p:nvSpPr>
        <p:spPr>
          <a:xfrm>
            <a:off x="1000125" y="4705350"/>
            <a:ext cx="4191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Starter question: Which payers are driving volume, payments, rejections, or follow-up work?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00F6D4-AB0A-4ED3-814F-D6DBD5BD1FF8}"/>
              </a:ext>
            </a:extLst>
          </p:cNvPr>
          <p:cNvSpPr>
            <a:spLocks noGrp="1"/>
          </p:cNvSpPr>
          <p:nvPr/>
        </p:nvSpPr>
        <p:spPr>
          <a:xfrm>
            <a:off x="6381750" y="1666875"/>
            <a:ext cx="5143500" cy="40481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ACFAF5-1B9C-4297-A55B-56D1EADB427D}"/>
              </a:ext>
            </a:extLst>
          </p:cNvPr>
          <p:cNvSpPr>
            <a:spLocks noGrp="1"/>
          </p:cNvSpPr>
          <p:nvPr/>
        </p:nvSpPr>
        <p:spPr>
          <a:xfrm>
            <a:off x="6667500" y="18859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Drug margin 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A551C7-B858-4435-80BC-133008F59332}"/>
              </a:ext>
            </a:extLst>
          </p:cNvPr>
          <p:cNvSpPr>
            <a:spLocks noGrp="1"/>
          </p:cNvSpPr>
          <p:nvPr/>
        </p:nvSpPr>
        <p:spPr>
          <a:xfrm>
            <a:off x="6667500" y="2305050"/>
            <a:ext cx="419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Drug margin compares what the pharmacy receives against the acquisition cost and related claim amounts.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6DC599-40BB-4541-B52D-5E92BFFA6F5A}"/>
              </a:ext>
            </a:extLst>
          </p:cNvPr>
          <p:cNvSpPr>
            <a:spLocks noGrp="1"/>
          </p:cNvSpPr>
          <p:nvPr/>
        </p:nvSpPr>
        <p:spPr>
          <a:xfrm>
            <a:off x="6715125" y="3143250"/>
            <a:ext cx="1476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High-margin fills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D874333-163C-4AB6-9BBD-AF6E16EFD151}"/>
              </a:ext>
            </a:extLst>
          </p:cNvPr>
          <p:cNvSpPr>
            <a:spLocks noGrp="1"/>
          </p:cNvSpPr>
          <p:nvPr/>
        </p:nvSpPr>
        <p:spPr>
          <a:xfrm>
            <a:off x="8334375" y="3181350"/>
            <a:ext cx="2095500" cy="11430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B8AC13E-D7DA-40E8-B5A0-E54517F618FA}"/>
              </a:ext>
            </a:extLst>
          </p:cNvPr>
          <p:cNvSpPr>
            <a:spLocks noGrp="1"/>
          </p:cNvSpPr>
          <p:nvPr/>
        </p:nvSpPr>
        <p:spPr>
          <a:xfrm>
            <a:off x="8334375" y="3181350"/>
            <a:ext cx="1809750" cy="11430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25A25E-D3A9-4809-B903-657E85B6E932}"/>
              </a:ext>
            </a:extLst>
          </p:cNvPr>
          <p:cNvSpPr>
            <a:spLocks noGrp="1"/>
          </p:cNvSpPr>
          <p:nvPr/>
        </p:nvSpPr>
        <p:spPr>
          <a:xfrm>
            <a:off x="6715125" y="3543300"/>
            <a:ext cx="1476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Average-margin fills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143124C-10E6-46D0-94D7-2E444B7E1E7E}"/>
              </a:ext>
            </a:extLst>
          </p:cNvPr>
          <p:cNvSpPr>
            <a:spLocks noGrp="1"/>
          </p:cNvSpPr>
          <p:nvPr/>
        </p:nvSpPr>
        <p:spPr>
          <a:xfrm>
            <a:off x="8334375" y="3581400"/>
            <a:ext cx="2095500" cy="11430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763170E-8129-4F2D-AC0E-CE06F7FBEF0D}"/>
              </a:ext>
            </a:extLst>
          </p:cNvPr>
          <p:cNvSpPr>
            <a:spLocks noGrp="1"/>
          </p:cNvSpPr>
          <p:nvPr/>
        </p:nvSpPr>
        <p:spPr>
          <a:xfrm>
            <a:off x="8334375" y="358140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0922BC-8246-47B5-9CEF-D4434D0DD411}"/>
              </a:ext>
            </a:extLst>
          </p:cNvPr>
          <p:cNvSpPr>
            <a:spLocks noGrp="1"/>
          </p:cNvSpPr>
          <p:nvPr/>
        </p:nvSpPr>
        <p:spPr>
          <a:xfrm>
            <a:off x="6715125" y="3943350"/>
            <a:ext cx="1476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Negative-margin fills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03C390C-C63A-4214-824B-33597CBFFA11}"/>
              </a:ext>
            </a:extLst>
          </p:cNvPr>
          <p:cNvSpPr>
            <a:spLocks noGrp="1"/>
          </p:cNvSpPr>
          <p:nvPr/>
        </p:nvSpPr>
        <p:spPr>
          <a:xfrm>
            <a:off x="8334375" y="3981450"/>
            <a:ext cx="2095500" cy="11430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2CD610A-C885-4666-8498-0381914D855C}"/>
              </a:ext>
            </a:extLst>
          </p:cNvPr>
          <p:cNvSpPr>
            <a:spLocks noGrp="1"/>
          </p:cNvSpPr>
          <p:nvPr/>
        </p:nvSpPr>
        <p:spPr>
          <a:xfrm>
            <a:off x="8334375" y="3981450"/>
            <a:ext cx="590550" cy="11430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9EEE19-BF2A-4382-8387-4C7B7C3E6650}"/>
              </a:ext>
            </a:extLst>
          </p:cNvPr>
          <p:cNvSpPr>
            <a:spLocks noGrp="1"/>
          </p:cNvSpPr>
          <p:nvPr/>
        </p:nvSpPr>
        <p:spPr>
          <a:xfrm>
            <a:off x="6715125" y="4705350"/>
            <a:ext cx="4191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Starter question: Which drugs or NDCs need review because margins are high, low, or negative?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EAADE4-B297-4366-A1F9-43C440499493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AnalyticalRx client planning deck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EF91B1-43A4-4A82-8020-5F87DBBD694C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8849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46A5501-8940-4CF3-925A-1C302F61BF4D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857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Phase 1 creates the base for Phase 2 insights.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2239C-A60C-4C3A-B9F9-FE39BCA7C033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111252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923C6B8-1B7A-4454-BB19-0939B6D6D534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1695450" cy="2114550"/>
          </a:xfrm>
          <a:prstGeom prst="roundRect">
            <a:avLst>
              <a:gd name="adj" fmla="val 4494"/>
            </a:avLst>
          </a:prstGeom>
          <a:solidFill>
            <a:srgbClr val="DBEA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63C77-DCCC-4C82-A257-3A959C7B359E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F8DD31-DC4C-4CF0-B533-9DB0634358F2}"/>
              </a:ext>
            </a:extLst>
          </p:cNvPr>
          <p:cNvSpPr>
            <a:spLocks noGrp="1"/>
          </p:cNvSpPr>
          <p:nvPr/>
        </p:nvSpPr>
        <p:spPr>
          <a:xfrm>
            <a:off x="800100" y="29051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Ingest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13906-A0AE-4E7A-B481-64EA07ACE9C6}"/>
              </a:ext>
            </a:extLst>
          </p:cNvPr>
          <p:cNvSpPr>
            <a:spLocks noGrp="1"/>
          </p:cNvSpPr>
          <p:nvPr/>
        </p:nvSpPr>
        <p:spPr>
          <a:xfrm>
            <a:off x="838200" y="3457575"/>
            <a:ext cx="1352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Receive API, webhook, and SFTP data reliably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DE9ADB0-CAA3-4EA2-AAD1-1465DF5CAA9B}"/>
              </a:ext>
            </a:extLst>
          </p:cNvPr>
          <p:cNvSpPr>
            <a:spLocks noGrp="1"/>
          </p:cNvSpPr>
          <p:nvPr/>
        </p:nvSpPr>
        <p:spPr>
          <a:xfrm>
            <a:off x="2905125" y="2190750"/>
            <a:ext cx="1695450" cy="2114550"/>
          </a:xfrm>
          <a:prstGeom prst="roundRect">
            <a:avLst>
              <a:gd name="adj" fmla="val 4494"/>
            </a:avLst>
          </a:prstGeom>
          <a:solidFill>
            <a:srgbClr val="DBEA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91AF87-C284-419E-A3AD-4E498E6E6AA9}"/>
              </a:ext>
            </a:extLst>
          </p:cNvPr>
          <p:cNvSpPr>
            <a:spLocks noGrp="1"/>
          </p:cNvSpPr>
          <p:nvPr/>
        </p:nvSpPr>
        <p:spPr>
          <a:xfrm>
            <a:off x="3095625" y="23622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CC0E4F-F854-4064-B995-8408289CD958}"/>
              </a:ext>
            </a:extLst>
          </p:cNvPr>
          <p:cNvSpPr>
            <a:spLocks noGrp="1"/>
          </p:cNvSpPr>
          <p:nvPr/>
        </p:nvSpPr>
        <p:spPr>
          <a:xfrm>
            <a:off x="3038475" y="29051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Map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CC8BF-50B7-4057-979E-7287DF4EB588}"/>
              </a:ext>
            </a:extLst>
          </p:cNvPr>
          <p:cNvSpPr>
            <a:spLocks noGrp="1"/>
          </p:cNvSpPr>
          <p:nvPr/>
        </p:nvSpPr>
        <p:spPr>
          <a:xfrm>
            <a:off x="3076575" y="3457575"/>
            <a:ext cx="1352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Normalize store, payer, drug, Rx, refill, and finance fields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94FCBC6-2298-489D-B4E5-C787EE0DAA4D}"/>
              </a:ext>
            </a:extLst>
          </p:cNvPr>
          <p:cNvSpPr>
            <a:spLocks noGrp="1"/>
          </p:cNvSpPr>
          <p:nvPr/>
        </p:nvSpPr>
        <p:spPr>
          <a:xfrm>
            <a:off x="5143500" y="2190750"/>
            <a:ext cx="1695450" cy="2114550"/>
          </a:xfrm>
          <a:prstGeom prst="roundRect">
            <a:avLst>
              <a:gd name="adj" fmla="val 4494"/>
            </a:avLst>
          </a:prstGeom>
          <a:solidFill>
            <a:srgbClr val="CCFBF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AE3E0E-C2D1-4E0D-A89C-6E80A2BBAD28}"/>
              </a:ext>
            </a:extLst>
          </p:cNvPr>
          <p:cNvSpPr>
            <a:spLocks noGrp="1"/>
          </p:cNvSpPr>
          <p:nvPr/>
        </p:nvSpPr>
        <p:spPr>
          <a:xfrm>
            <a:off x="5334000" y="23622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A990EF-DE58-4682-8567-94505200E228}"/>
              </a:ext>
            </a:extLst>
          </p:cNvPr>
          <p:cNvSpPr>
            <a:spLocks noGrp="1"/>
          </p:cNvSpPr>
          <p:nvPr/>
        </p:nvSpPr>
        <p:spPr>
          <a:xfrm>
            <a:off x="5276850" y="29051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Display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B96DF6-E81D-42FB-B90C-DB6318D4C979}"/>
              </a:ext>
            </a:extLst>
          </p:cNvPr>
          <p:cNvSpPr>
            <a:spLocks noGrp="1"/>
          </p:cNvSpPr>
          <p:nvPr/>
        </p:nvSpPr>
        <p:spPr>
          <a:xfrm>
            <a:off x="5314950" y="3457575"/>
            <a:ext cx="1352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Show starter KPIs, queues, exceptions, and trends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804C173-442A-4E2B-AA40-01EB46038A1A}"/>
              </a:ext>
            </a:extLst>
          </p:cNvPr>
          <p:cNvSpPr>
            <a:spLocks noGrp="1"/>
          </p:cNvSpPr>
          <p:nvPr/>
        </p:nvSpPr>
        <p:spPr>
          <a:xfrm>
            <a:off x="7381875" y="2190750"/>
            <a:ext cx="1695450" cy="2114550"/>
          </a:xfrm>
          <a:prstGeom prst="roundRect">
            <a:avLst>
              <a:gd name="adj" fmla="val 4494"/>
            </a:avLst>
          </a:prstGeom>
          <a:solidFill>
            <a:srgbClr val="CCFBF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A6A196-823F-4C64-84BF-71BE8A66476A}"/>
              </a:ext>
            </a:extLst>
          </p:cNvPr>
          <p:cNvSpPr>
            <a:spLocks noGrp="1"/>
          </p:cNvSpPr>
          <p:nvPr/>
        </p:nvSpPr>
        <p:spPr>
          <a:xfrm>
            <a:off x="7572375" y="23622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EE492D-231E-4AA9-B4CC-0AC51AFD2D70}"/>
              </a:ext>
            </a:extLst>
          </p:cNvPr>
          <p:cNvSpPr>
            <a:spLocks noGrp="1"/>
          </p:cNvSpPr>
          <p:nvPr/>
        </p:nvSpPr>
        <p:spPr>
          <a:xfrm>
            <a:off x="7515225" y="29051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Analyze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ECC5FD-889A-401F-9519-08F1D3C0953B}"/>
              </a:ext>
            </a:extLst>
          </p:cNvPr>
          <p:cNvSpPr>
            <a:spLocks noGrp="1"/>
          </p:cNvSpPr>
          <p:nvPr/>
        </p:nvSpPr>
        <p:spPr>
          <a:xfrm>
            <a:off x="7553325" y="3457575"/>
            <a:ext cx="1352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Compare changes across store, payer, drug, and doctor views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C53F8CA-6109-4BD4-8759-453ADEDF94E0}"/>
              </a:ext>
            </a:extLst>
          </p:cNvPr>
          <p:cNvSpPr>
            <a:spLocks noGrp="1"/>
          </p:cNvSpPr>
          <p:nvPr/>
        </p:nvSpPr>
        <p:spPr>
          <a:xfrm>
            <a:off x="9620250" y="2190750"/>
            <a:ext cx="1695450" cy="2114550"/>
          </a:xfrm>
          <a:prstGeom prst="roundRect">
            <a:avLst>
              <a:gd name="adj" fmla="val 4494"/>
            </a:avLst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287DBF-B3B3-4712-8DDE-289D7D3438E0}"/>
              </a:ext>
            </a:extLst>
          </p:cNvPr>
          <p:cNvSpPr>
            <a:spLocks noGrp="1"/>
          </p:cNvSpPr>
          <p:nvPr/>
        </p:nvSpPr>
        <p:spPr>
          <a:xfrm>
            <a:off x="9810750" y="23622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386CAD-C43B-4DFA-9920-EBAE704D97D6}"/>
              </a:ext>
            </a:extLst>
          </p:cNvPr>
          <p:cNvSpPr>
            <a:spLocks noGrp="1"/>
          </p:cNvSpPr>
          <p:nvPr/>
        </p:nvSpPr>
        <p:spPr>
          <a:xfrm>
            <a:off x="9753600" y="29051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Insight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197662-CC17-46CF-9646-D07D7AF50B6F}"/>
              </a:ext>
            </a:extLst>
          </p:cNvPr>
          <p:cNvSpPr>
            <a:spLocks noGrp="1"/>
          </p:cNvSpPr>
          <p:nvPr/>
        </p:nvSpPr>
        <p:spPr>
          <a:xfrm>
            <a:off x="9791700" y="3457575"/>
            <a:ext cx="1352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Surface follow-up areas directly inside dashboards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BDCB24-6E76-4721-A117-38000C9D1CA8}"/>
              </a:ext>
            </a:extLst>
          </p:cNvPr>
          <p:cNvSpPr>
            <a:spLocks noGrp="1"/>
          </p:cNvSpPr>
          <p:nvPr/>
        </p:nvSpPr>
        <p:spPr>
          <a:xfrm>
            <a:off x="1047750" y="514350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The Phase 2 insight layer should build on Phase 1 data, not replace it.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F57480-06A5-4B3F-AD00-B664FFB1F655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AnalyticalRx client planning deck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58AEFF-B71E-4E05-963A-55A21B810161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8605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5BCF192-4998-450B-A2B1-C31EFB6C668D}"/>
              </a:ext>
            </a:extLst>
          </p:cNvPr>
          <p:cNvSpPr>
            <a:spLocks noGrp="1"/>
          </p:cNvSpPr>
          <p:nvPr/>
        </p:nvSpPr>
        <p:spPr>
          <a:xfrm>
            <a:off x="514350" y="361950"/>
            <a:ext cx="857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Decisions needed before implementation starts.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B153C2-61CC-4A61-BDBC-15B0B23C54C9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111252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0A5E927-3D24-4370-B4AB-42D488D5CE32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333750" cy="2952750"/>
          </a:xfrm>
          <a:prstGeom prst="roundRect">
            <a:avLst>
              <a:gd name="adj" fmla="val 2581"/>
            </a:avLst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A437CF-D95F-42BB-BA92-8EBABE98B87B}"/>
              </a:ext>
            </a:extLst>
          </p:cNvPr>
          <p:cNvSpPr>
            <a:spLocks noGrp="1"/>
          </p:cNvSpPr>
          <p:nvPr/>
        </p:nvSpPr>
        <p:spPr>
          <a:xfrm>
            <a:off x="876300" y="19812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PrimeRx API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C3594D-37A7-4302-8BF3-54F8BD82FE8B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29146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Pricing model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Daily transaction volume assumptions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Rate limits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Sandbox and production access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Fields available for detail lookup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56C270-57D6-496A-9ABF-B424BE75C092}"/>
              </a:ext>
            </a:extLst>
          </p:cNvPr>
          <p:cNvSpPr>
            <a:spLocks noGrp="1"/>
          </p:cNvSpPr>
          <p:nvPr/>
        </p:nvSpPr>
        <p:spPr>
          <a:xfrm>
            <a:off x="4429125" y="1809750"/>
            <a:ext cx="3333750" cy="2952750"/>
          </a:xfrm>
          <a:prstGeom prst="roundRect">
            <a:avLst>
              <a:gd name="adj" fmla="val 2581"/>
            </a:avLst>
          </a:prstGeom>
          <a:solidFill>
            <a:srgbClr val="FEF3C7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C94F1B-683B-40B9-8D3F-1149E55936A3}"/>
              </a:ext>
            </a:extLst>
          </p:cNvPr>
          <p:cNvSpPr>
            <a:spLocks noGrp="1"/>
          </p:cNvSpPr>
          <p:nvPr/>
        </p:nvSpPr>
        <p:spPr>
          <a:xfrm>
            <a:off x="4638675" y="19812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B45309"/>
                </a:solidFill>
              </a:defRPr>
            </a:pPr>
            <a:r>
              <a:rPr sz="1650" b="1">
                <a:solidFill>
                  <a:srgbClr val="B45309"/>
                </a:solidFill>
              </a:rPr>
              <a:t>SFTP feeds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38D795-3CBD-4A82-9DE9-A3DA4F029193}"/>
              </a:ext>
            </a:extLst>
          </p:cNvPr>
          <p:cNvSpPr>
            <a:spLocks noGrp="1"/>
          </p:cNvSpPr>
          <p:nvPr/>
        </p:nvSpPr>
        <p:spPr>
          <a:xfrm>
            <a:off x="4638675" y="2362200"/>
            <a:ext cx="29146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Setup/configuration cost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Historical backfill cost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Daily automation cost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Field list and formats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HIPAA-minimized export options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3D2B722-F740-4472-8860-8E406C782F79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3333750" cy="2952750"/>
          </a:xfrm>
          <a:prstGeom prst="roundRect">
            <a:avLst>
              <a:gd name="adj" fmla="val 2581"/>
            </a:avLst>
          </a:prstGeom>
          <a:solidFill>
            <a:srgbClr val="CCFBF1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179F76-F5C8-4F99-9F80-8C6FE5B8223B}"/>
              </a:ext>
            </a:extLst>
          </p:cNvPr>
          <p:cNvSpPr>
            <a:spLocks noGrp="1"/>
          </p:cNvSpPr>
          <p:nvPr/>
        </p:nvSpPr>
        <p:spPr>
          <a:xfrm>
            <a:off x="8401050" y="19812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Data decisions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C8F042-19B3-4E7B-A170-AE21A1D93F54}"/>
              </a:ext>
            </a:extLst>
          </p:cNvPr>
          <p:cNvSpPr>
            <a:spLocks noGrp="1"/>
          </p:cNvSpPr>
          <p:nvPr/>
        </p:nvSpPr>
        <p:spPr>
          <a:xfrm>
            <a:off x="8401050" y="2362200"/>
            <a:ext cx="29146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Pseudonymous patient tokens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Excluded identifiers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RxNo/RefillNo restricted use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Backfill date range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Compliance review path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6D73D4-B63C-40EB-BA02-82C93D6CBC97}"/>
              </a:ext>
            </a:extLst>
          </p:cNvPr>
          <p:cNvSpPr>
            <a:spLocks noGrp="1"/>
          </p:cNvSpPr>
          <p:nvPr/>
        </p:nvSpPr>
        <p:spPr>
          <a:xfrm>
            <a:off x="1143000" y="5429250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Next step: confirm data access, pricing, and feed specifications, then lock Phase 1 scope.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1ED1AA-E35C-4F32-BC25-009C5C15AEE0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AnalyticalRx client planning deck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60B9E2-466F-408C-BB86-6EB1A5C49794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3355217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1091</Words>
  <Application>Microsoft Macintosh PowerPoint</Application>
  <DocSecurity>0</DocSecurity>
  <PresentationFormat>Widescreen</PresentationFormat>
  <Paragraphs>188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Bhanu Prakash Oleti</cp:lastModifiedBy>
  <cp:revision>1</cp:revision>
  <dcterms:created xsi:type="dcterms:W3CDTF">2026-07-15T09:51:14Z</dcterms:created>
  <dcterms:modified xsi:type="dcterms:W3CDTF">2026-07-15T11:32:58Z</dcterms:modified>
</cp:coreProperties>
</file>